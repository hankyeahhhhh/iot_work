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6858000" cy="9144000"/>
  <p:embeddedFontLst>
    <p:embeddedFont>
      <p:font typeface="Noto Sans TC" panose="020B0200000000000000" pitchFamily="34" charset="-120"/>
      <p:regular r:id="rId19"/>
      <p:bold r:id="rId20"/>
    </p:embeddedFont>
    <p:embeddedFont>
      <p:font typeface="Roboto Mono" panose="020F0502020204030204" pitchFamily="49" charset="0"/>
      <p:regular r:id="rId21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" d="100"/>
          <a:sy n="13" d="100"/>
        </p:scale>
        <p:origin x="109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今天要介紹的是，實體按鈕、網頁和光照感測器，怎麼一起控制同一盞三色 LED。功能看起來很簡單，但當換色和警示接近同時發生，就可能互相覆蓋。這份設計把提出要求和實際操作分開，讓所有來源都走相同的入口，再由唯一的 owner 操作燈。我們先看衝突怎麼發生，再用正常換色、紅閃和競爭情境，說明這套規則如何運作。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統有三個要求來源。實體按鈕和網頁按鈕都負責換到下一個顏色，光照感測器則在太暗時要求紅閃五次。換色是短動作，警示則會持續一段時間，而且結束後必須恢復原本的顏色和亮滅狀態。問題在於，這些要求可能很接近地抵達。如果每個來源都直接改燈，我們就很難決定當下應該顯示什麼，以及警示結束後應該回到哪個狀態。 例如紅閃途中有人把燈改綠，警示結束又恢復舊藍色，就會蓋掉剛才的操作。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解法是把硬體控制集中到一個 LedService。按鈕、光照和網頁都只呼叫 submit，提出自己想做的事。run 是獨立執行的工作者，負責更新正常狀態、推進警示，並透過 RgbLed 寫入 GPIO。submit 和 run 屬於同一個物件，分別負責受理與執行。main 只建立這一個服務，再交給各個來源使用，避免不同任務各自保存一份燈的狀態。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所有來源都使用同一個 submit 入口，先檢查命令種類、服務是否忙碌，以及佇列有沒有空間。普通換色採先進先出，最多保留八筆待辦，滿了就明確拒絕，原因是 queue_full，Web 會收到 HTTP 429。submit 負責接單與回覆收據，真正改燈仍由 owner 稍後執行。來源只需要說自己想做什麼，不必各自判斷下一個顏色，也不能繞過共同規則直接寫 GPIO。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收據像一張查詢用的號碼牌。accepted 表示受理，executing 表示處理中，executed 才表示軟體已完成輸出。Web 收到 HTTP 202 時，燈可能還沒有換色。尤其一筆普通換色還在排隊時，如果警示先被受理，它仍可能轉成 rejected，原因是 alert_started。硬體寫入錯誤則記成 failed。因此要用命令 ID 查最後結果，不能把最初的受理回覆當作完成證明。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處理紅閃之前，要先分清楚三種狀態。正常狀態記住平常應該顯示的顏色和亮滅，暫時效果記住警示目前是在紅亮還是熄滅階段，實際輸出則是這一刻 GPIO 呈現什麼。比如原本是藍色，警示紅亮時，正常狀態仍然是藍色，只有當下輸出變紅。這樣警示結束後，就能恢復原本的狀態，紅色也不會被誤當成新的正常顏色。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假設現在 LED 是藍色，沒有警示，佇列也是空的。按鈕確認穩定按下後，只送出 cycle，代表前進一色。submit 先建立收據並排入佇列，這個時候燈仍然是藍色。等 owner 取出命令，才把正常色碼從一推進到二，寫出綠色，最後將收據標成 executed。按鈕和網頁都送 cycle，讓下一個顏色由 owner 統一計算，避免各自讀到舊狀態後互相覆蓋。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警示的關鍵是受理的那一刻。submit 立即設定 reserved，讓 busy 成立，並清除佇列中尚未執行的普通換色，把收據標記為 rejected，原因是 alert_started。這時紅燈可能還沒亮，但新的換色已經不能進來。owner 接著保存原本顏色與亮滅，紅閃五次後恢復，再完成收據、解除 busy。每二十毫秒檢查一次，亮與滅各三百毫秒，理想約三秒。排程延遲可能拉長時間，但不會快速補跳階段。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鈕與光照警示接近同時發生時，要看警示受理當下，換色進行到哪裡。第一種是換色已完成，就保存新顏色，警示後恢復新色。第二種是換色還在佇列，就拒絕這筆未執行命令，保留原色，也不在警示後補做。第三種是警示先受理，後來的換色直接被擋下。實體按鈕可能在輸入階段就遭拒，連命令 ID 都不產生；Web 請求則由後端回覆 HTTP 409。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再看一個容易忽略的情況：使用者在紅閃第三次時按住按鈕，一直沒有放開。按鈕邏輯在按下期間遇到 busy，就記住 press_rejected，這次按壓不會送出 cycle。就算後來紅閃結束，busy 已經解除，也不能把同一次按住變成新的操作。使用者必須先放開，再重新按下，才有下一次機會。這需要按鈕輸入本身記住狀態，單靠命令佇列還不夠。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busy 和 armed 很像兩個開關，但用途不同。busy 由 LED 服務管理，回答現在能不能操作燈，警示恢復後就會解除。armed 由光照任務管理，決定能不能再送出光照警示。警示成功受理後，armed 變成 false，必須先回亮到 ADC 一千一百以上，才重新武裝，之後再變暗才能再次觸發。這樣持續昏暗時就不會一直重播警示，也能減少門檻附近波動造成的連發。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網頁需要知道現在能不能操作 LED，這件事比溫溼度晚一點更新更急。因此 LED 使用專屬的狀態 API，只讀 owner 的 RAM 快照，完成一次查詢後等兩百毫秒再查。一般感測資料則完成後等一千毫秒。兩邊各自維持單筆請求在途，避免不斷堆積。更重要的是，感測回應只更新感測卡片，不能改 LED 控制提示，避免慢資料把剛更新的警示狀態蓋回去。 這些數字是請求完成後的等待間隔，並不是實機反應時間的保證。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網路偶爾逾時時，網頁會保留五秒內成功取得的快照，避免按鈕一下灰、一下亮。超過有效期限仍沒有新資料，才停用控制。逾時後才到達的舊回應也要捨棄，不能重新覆寫畫面。不過快照只是提示，實際操作仍由後端 submit 檢查。即使網頁還顯示可按，只要後端 busy，就回覆 409 拒絕。另外，中止瀏覽器等待，不代表取消 ESP32 已受理的命令。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這裡是假設新增功能的例子。如果按鈕三要觸發綠閃三次，仍然交給同一個 owner，沿用 busy 與恢復機制，只增加效果規格和輸入來源。兩種效果接近同時發生，採先受理者先完成，忙碌時拒絕後來的效果，不打斷也不排第二個效果。這與警示清掉普通換色佇列，是兩種不同規則。新增後要驗證原色與熄燈恢復、效果間競爭、長按不補做，以及硬體錯誤處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部署時，上傳 main.py、tasks.py、web_server.py、index.html 和 services 目錄。HTML 在啟動時載入 RAM，所以更新後必須重啟 ESP32，瀏覽器再按 Ctrl 加 F5 強制刷新。驗收依序看正常換色、紅閃五次後恢復、警示中長按不補做、光照回亮後再次觸發，以及未執行換色遇警示的拒絕結果。原資料有桌面假硬體測試與使用者實機回報，尚未涵蓋完整長時間壓力測試。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最後回到這份設計的重點。多個來源可以提出要求，但硬體由同一個 owner 操作，所有要求也使用共同的受理規則。拿到 202 只表示已受理，真正結果要看收據。警示從受理時就占用控制權，完成後恢復原本狀態，警示中被拒絕的按壓也不會補做。網頁負責清楚呈現狀態，後端負責最後判斷。把這些責任分清楚，發生競爭時就能說明每一步為什麼得到這個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>
            <a:extLst>
              <a:ext uri="{FF2B5EF4-FFF2-40B4-BE49-F238E27FC236}">
                <a16:creationId xmlns:a16="http://schemas.microsoft.com/office/drawing/2014/main" id="{5ABF681F-0F56-46D7-94CC-4570CC88A98B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cover-text-2">
            <a:extLst>
              <a:ext uri="{FF2B5EF4-FFF2-40B4-BE49-F238E27FC236}">
                <a16:creationId xmlns:a16="http://schemas.microsoft.com/office/drawing/2014/main" id="{A0417F21-28C9-4B80-9A00-2362020C098E}"/>
              </a:ext>
            </a:extLst>
          </p:cNvPr>
          <p:cNvSpPr>
            <a:spLocks noGrp="1"/>
          </p:cNvSpPr>
          <p:nvPr/>
        </p:nvSpPr>
        <p:spPr>
          <a:xfrm>
            <a:off x="1016000" y="3048000"/>
            <a:ext cx="142240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6720"/>
              </a:lnSpc>
              <a:buNone/>
              <a:def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48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多個來源，一個三色 LED</a:t>
            </a:r>
            <a:endParaRPr sz="5600"/>
          </a:p>
        </p:txBody>
      </p:sp>
      <p:sp>
        <p:nvSpPr>
          <p:cNvPr id="4" name="cover-text-3">
            <a:extLst>
              <a:ext uri="{FF2B5EF4-FFF2-40B4-BE49-F238E27FC236}">
                <a16:creationId xmlns:a16="http://schemas.microsoft.com/office/drawing/2014/main" id="{132E74D0-5229-4891-846C-0AED0B0BDE56}"/>
              </a:ext>
            </a:extLst>
          </p:cNvPr>
          <p:cNvSpPr>
            <a:spLocks noGrp="1"/>
          </p:cNvSpPr>
          <p:nvPr/>
        </p:nvSpPr>
        <p:spPr>
          <a:xfrm>
            <a:off x="1016000" y="4826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pPr>
            <a:r>
              <a:rPr sz="2700">
                <a:solidFill>
                  <a:srgbClr val="F59600"/>
                </a:solidFill>
                <a:latin typeface="Noto Sans TC"/>
                <a:ea typeface="Noto Sans TC"/>
                <a:cs typeface="Noto Sans TC"/>
              </a:rPr>
              <a:t>單一擁有者的控制方式</a:t>
            </a:r>
            <a:endParaRPr sz="2800"/>
          </a:p>
        </p:txBody>
      </p:sp>
      <p:sp>
        <p:nvSpPr>
          <p:cNvPr id="5" name="cover-text-4">
            <a:extLst>
              <a:ext uri="{FF2B5EF4-FFF2-40B4-BE49-F238E27FC236}">
                <a16:creationId xmlns:a16="http://schemas.microsoft.com/office/drawing/2014/main" id="{A407BDC0-DBDB-40F1-B473-9155DE8B9A4F}"/>
              </a:ext>
            </a:extLst>
          </p:cNvPr>
          <p:cNvSpPr>
            <a:spLocks noGrp="1"/>
          </p:cNvSpPr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C8DAE5"/>
                </a:solidFill>
                <a:latin typeface="Noto Sans TC"/>
                <a:ea typeface="Noto Sans TC"/>
                <a:cs typeface="Noto Sans TC"/>
              </a:rPr>
              <a:t>實體按鈕、網頁與光照感測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0579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quirements-shape-1">
            <a:extLst>
              <a:ext uri="{FF2B5EF4-FFF2-40B4-BE49-F238E27FC236}">
                <a16:creationId xmlns:a16="http://schemas.microsoft.com/office/drawing/2014/main" id="{D4AA4075-B28F-4D1F-84C5-68F06A2E00BA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requirements-text-2">
            <a:extLst>
              <a:ext uri="{FF2B5EF4-FFF2-40B4-BE49-F238E27FC236}">
                <a16:creationId xmlns:a16="http://schemas.microsoft.com/office/drawing/2014/main" id="{ED8DB80A-971F-4CC9-8D05-7B9059ECAFD1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控制需求</a:t>
            </a:r>
            <a:endParaRPr sz="1400"/>
          </a:p>
        </p:txBody>
      </p:sp>
      <p:sp>
        <p:nvSpPr>
          <p:cNvPr id="4" name="requirements-text-3">
            <a:extLst>
              <a:ext uri="{FF2B5EF4-FFF2-40B4-BE49-F238E27FC236}">
                <a16:creationId xmlns:a16="http://schemas.microsoft.com/office/drawing/2014/main" id="{6B7499A9-C008-4E0E-955F-E70A7F5F94E5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02</a:t>
            </a:r>
            <a:endParaRPr sz="1400"/>
          </a:p>
        </p:txBody>
      </p:sp>
      <p:sp>
        <p:nvSpPr>
          <p:cNvPr id="5" name="requirements-text-4">
            <a:extLst>
              <a:ext uri="{FF2B5EF4-FFF2-40B4-BE49-F238E27FC236}">
                <a16:creationId xmlns:a16="http://schemas.microsoft.com/office/drawing/2014/main" id="{833CA3B4-7C8A-40B3-9667-F59C110E2B20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一盞燈，三種要求</a:t>
            </a:r>
            <a:endParaRPr sz="3200"/>
          </a:p>
        </p:txBody>
      </p:sp>
      <p:sp>
        <p:nvSpPr>
          <p:cNvPr id="6" name="requirements-text-5">
            <a:extLst>
              <a:ext uri="{FF2B5EF4-FFF2-40B4-BE49-F238E27FC236}">
                <a16:creationId xmlns:a16="http://schemas.microsoft.com/office/drawing/2014/main" id="{A46535DF-622F-4AE0-B476-52A2147C9370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多個來源接近同時抵達，直接改燈就可能互相覆蓋。</a:t>
            </a:r>
            <a:endParaRPr sz="2000"/>
          </a:p>
        </p:txBody>
      </p:sp>
      <p:graphicFrame>
        <p:nvGraphicFramePr>
          <p:cNvPr id="7" name="requirements-table-6">
            <a:extLst>
              <a:ext uri="{FF2B5EF4-FFF2-40B4-BE49-F238E27FC236}">
                <a16:creationId xmlns:a16="http://schemas.microsoft.com/office/drawing/2014/main" id="{F4517585-6AD4-41DD-A9C2-98BA622BCFF3}"/>
              </a:ext>
            </a:extLst>
          </p:cNvPr>
          <p:cNvGraphicFramePr/>
          <p:nvPr/>
        </p:nvGraphicFramePr>
        <p:xfrm>
          <a:off x="1016000" y="3810000"/>
          <a:ext cx="14224000" cy="3048000"/>
        </p:xfrm>
        <a:graphic>
          <a:graphicData uri="http://schemas.openxmlformats.org/drawingml/2006/table">
            <a:tbl>
              <a:tblPr/>
              <a:tblGrid>
                <a:gridCol w="4741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1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要求來源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動作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結束後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實體按鈕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前進一個顏色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保留新色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0" cmpd="sng">
                      <a:noFill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網頁按鈕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12700" cmpd="sng">
                      <a:solidFill>
                        <a:srgbClr val="CFD8DC"/>
                      </a:solidFill>
                      <a:prstDash val="sysDash"/>
                    </a:lnT>
                    <a:lnB w="12700" cmpd="sng">
                      <a:solidFill>
                        <a:srgbClr val="CFD8DC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前進一個顏色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12700" cmpd="sng">
                      <a:solidFill>
                        <a:srgbClr val="CFD8DC"/>
                      </a:solidFill>
                      <a:prstDash val="sysDash"/>
                    </a:lnT>
                    <a:lnB w="12700" cmpd="sng">
                      <a:solidFill>
                        <a:srgbClr val="CFD8DC"/>
                      </a:solidFill>
                      <a:prstDash val="sysDash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保留新色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0" cmpd="sng">
                      <a:noFill/>
                    </a:lnR>
                    <a:lnT w="12700" cmpd="sng">
                      <a:solidFill>
                        <a:srgbClr val="CFD8DC"/>
                      </a:solidFill>
                      <a:prstDash val="sysDash"/>
                    </a:lnT>
                    <a:lnB w="12700" cmpd="sng">
                      <a:solidFill>
                        <a:srgbClr val="CFD8DC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光照過暗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12700" cmpd="sng">
                      <a:solidFill>
                        <a:srgbClr val="CFD8DC"/>
                      </a:solidFill>
                      <a:prstDash val="sysDash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紅閃五次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12700" cmpd="sng">
                      <a:solidFill>
                        <a:srgbClr val="CFD8DC"/>
                      </a:solidFill>
                      <a:prstDash val="sysDash"/>
                    </a:lnR>
                    <a:lnT w="12700" cmpd="sng">
                      <a:solidFill>
                        <a:srgbClr val="CFD8DC"/>
                      </a:solidFill>
                      <a:prstDash val="sysDash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恢復原狀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ysDash"/>
                    </a:lnL>
                    <a:lnR w="0" cmpd="sng">
                      <a:noFill/>
                    </a:lnR>
                    <a:lnT w="12700" cmpd="sng">
                      <a:solidFill>
                        <a:srgbClr val="CFD8DC"/>
                      </a:solidFill>
                      <a:prstDash val="sysDash"/>
                    </a:lnT>
                    <a:lnB w="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quirements-text-7">
            <a:extLst>
              <a:ext uri="{FF2B5EF4-FFF2-40B4-BE49-F238E27FC236}">
                <a16:creationId xmlns:a16="http://schemas.microsoft.com/office/drawing/2014/main" id="{218FAEB9-38AF-4B3E-8F36-B0A79DB638D6}"/>
              </a:ext>
            </a:extLst>
          </p:cNvPr>
          <p:cNvSpPr>
            <a:spLocks noGrp="1"/>
          </p:cNvSpPr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F59600"/>
                </a:solidFill>
                <a:latin typeface="Noto Sans TC"/>
                <a:ea typeface="Noto Sans TC"/>
                <a:cs typeface="Noto Sans TC"/>
              </a:rPr>
              <a:t>共同問題：誰能改燈？警示結束後要恢復什麼？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7827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wner_physical-shape-1">
            <a:extLst>
              <a:ext uri="{FF2B5EF4-FFF2-40B4-BE49-F238E27FC236}">
                <a16:creationId xmlns:a16="http://schemas.microsoft.com/office/drawing/2014/main" id="{DBE13650-1D47-4A6E-9902-BF1578CF717D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owner_physical-text-2">
            <a:extLst>
              <a:ext uri="{FF2B5EF4-FFF2-40B4-BE49-F238E27FC236}">
                <a16:creationId xmlns:a16="http://schemas.microsoft.com/office/drawing/2014/main" id="{8A61D62A-A184-47E5-81EF-A8310860EAEF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共同規則</a:t>
            </a:r>
            <a:endParaRPr sz="1400"/>
          </a:p>
        </p:txBody>
      </p:sp>
      <p:sp>
        <p:nvSpPr>
          <p:cNvPr id="4" name="owner_physical-text-3">
            <a:extLst>
              <a:ext uri="{FF2B5EF4-FFF2-40B4-BE49-F238E27FC236}">
                <a16:creationId xmlns:a16="http://schemas.microsoft.com/office/drawing/2014/main" id="{8F3A6DA8-3541-4FED-B99C-C713D60DA92E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03</a:t>
            </a:r>
            <a:endParaRPr sz="1400"/>
          </a:p>
        </p:txBody>
      </p:sp>
      <p:sp>
        <p:nvSpPr>
          <p:cNvPr id="5" name="owner_physical-text-4">
            <a:extLst>
              <a:ext uri="{FF2B5EF4-FFF2-40B4-BE49-F238E27FC236}">
                <a16:creationId xmlns:a16="http://schemas.microsoft.com/office/drawing/2014/main" id="{C525FCAD-DF4E-4ABD-9CF6-96B93DAEA37E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單一擁有者架構</a:t>
            </a:r>
            <a:endParaRPr sz="3200"/>
          </a:p>
        </p:txBody>
      </p:sp>
      <p:sp>
        <p:nvSpPr>
          <p:cNvPr id="6" name="owner_physical-shape-5">
            <a:extLst>
              <a:ext uri="{FF2B5EF4-FFF2-40B4-BE49-F238E27FC236}">
                <a16:creationId xmlns:a16="http://schemas.microsoft.com/office/drawing/2014/main" id="{2B04AB4F-4F97-43AA-9959-73A317A845C4}"/>
              </a:ext>
            </a:extLst>
          </p:cNvPr>
          <p:cNvSpPr>
            <a:spLocks noGrp="1"/>
          </p:cNvSpPr>
          <p:nvPr/>
        </p:nvSpPr>
        <p:spPr>
          <a:xfrm>
            <a:off x="1016000" y="3048000"/>
            <a:ext cx="5842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7" name="owner_physical-text-6">
            <a:extLst>
              <a:ext uri="{FF2B5EF4-FFF2-40B4-BE49-F238E27FC236}">
                <a16:creationId xmlns:a16="http://schemas.microsoft.com/office/drawing/2014/main" id="{AD1B51D0-28A4-4E0E-9CEC-EE32C56AA744}"/>
              </a:ext>
            </a:extLst>
          </p:cNvPr>
          <p:cNvSpPr>
            <a:spLocks noGrp="1"/>
          </p:cNvSpPr>
          <p:nvPr/>
        </p:nvSpPr>
        <p:spPr>
          <a:xfrm>
            <a:off x="1270000" y="3302000"/>
            <a:ext cx="53340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來源</a:t>
            </a:r>
            <a:endParaRPr sz="2000"/>
          </a:p>
          <a:p>
            <a:pPr marL="0" indent="0" algn="l"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只呼叫 submit()，</a:t>
            </a:r>
            <a:endParaRPr sz="2000"/>
          </a:p>
          <a:p>
            <a:pPr marL="0" indent="0" algn="l"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提交換色或警示。</a:t>
            </a:r>
            <a:endParaRPr sz="2000"/>
          </a:p>
        </p:txBody>
      </p:sp>
      <p:sp>
        <p:nvSpPr>
          <p:cNvPr id="8" name="owner_physical-shape-7">
            <a:extLst>
              <a:ext uri="{FF2B5EF4-FFF2-40B4-BE49-F238E27FC236}">
                <a16:creationId xmlns:a16="http://schemas.microsoft.com/office/drawing/2014/main" id="{75F9B6E3-00D2-441E-B003-990A3EB9AC45}"/>
              </a:ext>
            </a:extLst>
          </p:cNvPr>
          <p:cNvSpPr>
            <a:spLocks noGrp="1"/>
          </p:cNvSpPr>
          <p:nvPr/>
        </p:nvSpPr>
        <p:spPr>
          <a:xfrm>
            <a:off x="1016000" y="4826000"/>
            <a:ext cx="5842000" cy="2286000"/>
          </a:xfrm>
          <a:prstGeom prst="roundRect">
            <a:avLst>
              <a:gd name="adj" fmla="val 4444"/>
            </a:avLst>
          </a:prstGeom>
          <a:solidFill>
            <a:srgbClr val="F5F7FA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9" name="owner_physical-text-8">
            <a:extLst>
              <a:ext uri="{FF2B5EF4-FFF2-40B4-BE49-F238E27FC236}">
                <a16:creationId xmlns:a16="http://schemas.microsoft.com/office/drawing/2014/main" id="{E0691A9D-6780-45C1-B434-78B6F2405CC7}"/>
              </a:ext>
            </a:extLst>
          </p:cNvPr>
          <p:cNvSpPr>
            <a:spLocks noGrp="1"/>
          </p:cNvSpPr>
          <p:nvPr/>
        </p:nvSpPr>
        <p:spPr>
          <a:xfrm>
            <a:off x="1270000" y="5080000"/>
            <a:ext cx="5334000" cy="17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Owner</a:t>
            </a:r>
            <a:endParaRPr sz="2000"/>
          </a:p>
          <a:p>
            <a:pPr marL="0" indent="0" algn="l"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由 run() 更新狀態，</a:t>
            </a:r>
            <a:endParaRPr sz="2000"/>
          </a:p>
          <a:p>
            <a:pPr marL="0" indent="0" algn="l"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透過 RgbLed.write() 輸出。</a:t>
            </a:r>
            <a:endParaRPr sz="2000"/>
          </a:p>
        </p:txBody>
      </p:sp>
      <p:sp>
        <p:nvSpPr>
          <p:cNvPr id="10" name="owner_physical-shape-9">
            <a:extLst>
              <a:ext uri="{FF2B5EF4-FFF2-40B4-BE49-F238E27FC236}">
                <a16:creationId xmlns:a16="http://schemas.microsoft.com/office/drawing/2014/main" id="{A209A068-263B-4188-893A-521FE1281B0F}"/>
              </a:ext>
            </a:extLst>
          </p:cNvPr>
          <p:cNvSpPr>
            <a:spLocks noGrp="1"/>
          </p:cNvSpPr>
          <p:nvPr/>
        </p:nvSpPr>
        <p:spPr>
          <a:xfrm>
            <a:off x="7620000" y="3048000"/>
            <a:ext cx="2032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owner_physical-text-10">
            <a:extLst>
              <a:ext uri="{FF2B5EF4-FFF2-40B4-BE49-F238E27FC236}">
                <a16:creationId xmlns:a16="http://schemas.microsoft.com/office/drawing/2014/main" id="{20CB425B-AE12-43E7-8821-78016A6B8DD7}"/>
              </a:ext>
            </a:extLst>
          </p:cNvPr>
          <p:cNvSpPr>
            <a:spLocks noGrp="1"/>
          </p:cNvSpPr>
          <p:nvPr/>
        </p:nvSpPr>
        <p:spPr>
          <a:xfrm>
            <a:off x="7620000" y="31750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實體按鈕</a:t>
            </a:r>
            <a:endParaRPr sz="2000"/>
          </a:p>
        </p:txBody>
      </p:sp>
      <p:sp>
        <p:nvSpPr>
          <p:cNvPr id="12" name="owner_physical-shape-11">
            <a:extLst>
              <a:ext uri="{FF2B5EF4-FFF2-40B4-BE49-F238E27FC236}">
                <a16:creationId xmlns:a16="http://schemas.microsoft.com/office/drawing/2014/main" id="{BDDD2B68-BD9A-4321-B38B-9C9C34EB127E}"/>
              </a:ext>
            </a:extLst>
          </p:cNvPr>
          <p:cNvSpPr>
            <a:spLocks noGrp="1"/>
          </p:cNvSpPr>
          <p:nvPr/>
        </p:nvSpPr>
        <p:spPr>
          <a:xfrm>
            <a:off x="9652000" y="3365500"/>
            <a:ext cx="762000" cy="635000"/>
          </a:xfrm>
          <a:prstGeom prst="line">
            <a:avLst/>
          </a:prstGeom>
          <a:ln w="25400">
            <a:solidFill>
              <a:srgbClr val="CFD8D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owner_physical-shape-12">
            <a:extLst>
              <a:ext uri="{FF2B5EF4-FFF2-40B4-BE49-F238E27FC236}">
                <a16:creationId xmlns:a16="http://schemas.microsoft.com/office/drawing/2014/main" id="{D561B19A-5695-4B02-8DE1-50957637F666}"/>
              </a:ext>
            </a:extLst>
          </p:cNvPr>
          <p:cNvSpPr>
            <a:spLocks noGrp="1"/>
          </p:cNvSpPr>
          <p:nvPr/>
        </p:nvSpPr>
        <p:spPr>
          <a:xfrm>
            <a:off x="7620000" y="4064000"/>
            <a:ext cx="2032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owner_physical-text-13">
            <a:extLst>
              <a:ext uri="{FF2B5EF4-FFF2-40B4-BE49-F238E27FC236}">
                <a16:creationId xmlns:a16="http://schemas.microsoft.com/office/drawing/2014/main" id="{3C43AEF6-D39A-48AB-B266-3D45B116C4E7}"/>
              </a:ext>
            </a:extLst>
          </p:cNvPr>
          <p:cNvSpPr>
            <a:spLocks noGrp="1"/>
          </p:cNvSpPr>
          <p:nvPr/>
        </p:nvSpPr>
        <p:spPr>
          <a:xfrm>
            <a:off x="7620000" y="41910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網頁 API</a:t>
            </a:r>
            <a:endParaRPr sz="2000"/>
          </a:p>
        </p:txBody>
      </p:sp>
      <p:sp>
        <p:nvSpPr>
          <p:cNvPr id="15" name="owner_physical-shape-14">
            <a:extLst>
              <a:ext uri="{FF2B5EF4-FFF2-40B4-BE49-F238E27FC236}">
                <a16:creationId xmlns:a16="http://schemas.microsoft.com/office/drawing/2014/main" id="{5DCDDFD5-3856-48AB-A79A-1A9D7941A7A2}"/>
              </a:ext>
            </a:extLst>
          </p:cNvPr>
          <p:cNvSpPr>
            <a:spLocks noGrp="1"/>
          </p:cNvSpPr>
          <p:nvPr/>
        </p:nvSpPr>
        <p:spPr>
          <a:xfrm>
            <a:off x="9652000" y="4381500"/>
            <a:ext cx="762000" cy="9144"/>
          </a:xfrm>
          <a:prstGeom prst="line">
            <a:avLst/>
          </a:prstGeom>
          <a:ln w="25400">
            <a:solidFill>
              <a:srgbClr val="CFD8D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owner_physical-shape-15">
            <a:extLst>
              <a:ext uri="{FF2B5EF4-FFF2-40B4-BE49-F238E27FC236}">
                <a16:creationId xmlns:a16="http://schemas.microsoft.com/office/drawing/2014/main" id="{6E9F6E9A-5FD8-4434-AA95-33FDCCDDB0A8}"/>
              </a:ext>
            </a:extLst>
          </p:cNvPr>
          <p:cNvSpPr>
            <a:spLocks noGrp="1"/>
          </p:cNvSpPr>
          <p:nvPr/>
        </p:nvSpPr>
        <p:spPr>
          <a:xfrm>
            <a:off x="7620000" y="5080000"/>
            <a:ext cx="2032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owner_physical-text-16">
            <a:extLst>
              <a:ext uri="{FF2B5EF4-FFF2-40B4-BE49-F238E27FC236}">
                <a16:creationId xmlns:a16="http://schemas.microsoft.com/office/drawing/2014/main" id="{3CB26A52-7222-4926-9BCB-1D376A552403}"/>
              </a:ext>
            </a:extLst>
          </p:cNvPr>
          <p:cNvSpPr>
            <a:spLocks noGrp="1"/>
          </p:cNvSpPr>
          <p:nvPr/>
        </p:nvSpPr>
        <p:spPr>
          <a:xfrm>
            <a:off x="7620000" y="52070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光照感測</a:t>
            </a:r>
            <a:endParaRPr sz="2000"/>
          </a:p>
        </p:txBody>
      </p:sp>
      <p:sp>
        <p:nvSpPr>
          <p:cNvPr id="18" name="owner_physical-shape-17">
            <a:extLst>
              <a:ext uri="{FF2B5EF4-FFF2-40B4-BE49-F238E27FC236}">
                <a16:creationId xmlns:a16="http://schemas.microsoft.com/office/drawing/2014/main" id="{C557543B-4EAC-44FB-B4F4-6113D1B44799}"/>
              </a:ext>
            </a:extLst>
          </p:cNvPr>
          <p:cNvSpPr>
            <a:spLocks noGrp="1"/>
          </p:cNvSpPr>
          <p:nvPr/>
        </p:nvSpPr>
        <p:spPr>
          <a:xfrm flipV="1">
            <a:off x="9652000" y="4762500"/>
            <a:ext cx="762000" cy="635000"/>
          </a:xfrm>
          <a:prstGeom prst="line">
            <a:avLst/>
          </a:prstGeom>
          <a:ln w="25400">
            <a:solidFill>
              <a:srgbClr val="CFD8D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owner_physical-shape-18">
            <a:extLst>
              <a:ext uri="{FF2B5EF4-FFF2-40B4-BE49-F238E27FC236}">
                <a16:creationId xmlns:a16="http://schemas.microsoft.com/office/drawing/2014/main" id="{5EF65B08-357E-4B85-9976-DE162E9B9506}"/>
              </a:ext>
            </a:extLst>
          </p:cNvPr>
          <p:cNvSpPr>
            <a:spLocks noGrp="1"/>
          </p:cNvSpPr>
          <p:nvPr/>
        </p:nvSpPr>
        <p:spPr>
          <a:xfrm>
            <a:off x="10414000" y="3683000"/>
            <a:ext cx="2286000" cy="1397000"/>
          </a:xfrm>
          <a:prstGeom prst="roundRect">
            <a:avLst>
              <a:gd name="adj" fmla="val 7273"/>
            </a:avLst>
          </a:prstGeom>
          <a:solidFill>
            <a:srgbClr val="1A237E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20" name="owner_physical-text-19">
            <a:extLst>
              <a:ext uri="{FF2B5EF4-FFF2-40B4-BE49-F238E27FC236}">
                <a16:creationId xmlns:a16="http://schemas.microsoft.com/office/drawing/2014/main" id="{B3FC1B5C-778C-40AB-9B18-637B7033B0CA}"/>
              </a:ext>
            </a:extLst>
          </p:cNvPr>
          <p:cNvSpPr>
            <a:spLocks noGrp="1"/>
          </p:cNvSpPr>
          <p:nvPr/>
        </p:nvSpPr>
        <p:spPr>
          <a:xfrm>
            <a:off x="10414000" y="3937000"/>
            <a:ext cx="2286000" cy="101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sz="20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唯一 Owner</a:t>
            </a:r>
            <a:endParaRPr sz="2000"/>
          </a:p>
          <a:p>
            <a:pPr marL="0" indent="0" algn="ctr">
              <a:lnSpc>
                <a:spcPts val="2700"/>
              </a:lnSpc>
              <a:buNone/>
            </a:pPr>
            <a:r>
              <a:rPr sz="1800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run()</a:t>
            </a:r>
            <a:endParaRPr sz="2000"/>
          </a:p>
        </p:txBody>
      </p:sp>
      <p:sp>
        <p:nvSpPr>
          <p:cNvPr id="21" name="owner_physical-shape-20">
            <a:extLst>
              <a:ext uri="{FF2B5EF4-FFF2-40B4-BE49-F238E27FC236}">
                <a16:creationId xmlns:a16="http://schemas.microsoft.com/office/drawing/2014/main" id="{391F5899-DA56-4F1B-877F-3D6B63B2DA2B}"/>
              </a:ext>
            </a:extLst>
          </p:cNvPr>
          <p:cNvSpPr>
            <a:spLocks noGrp="1"/>
          </p:cNvSpPr>
          <p:nvPr/>
        </p:nvSpPr>
        <p:spPr>
          <a:xfrm>
            <a:off x="12700000" y="4381500"/>
            <a:ext cx="762000" cy="9144"/>
          </a:xfrm>
          <a:prstGeom prst="line">
            <a:avLst/>
          </a:prstGeom>
          <a:ln w="50800">
            <a:solidFill>
              <a:srgbClr val="FF8F0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owner_physical-shape-21">
            <a:extLst>
              <a:ext uri="{FF2B5EF4-FFF2-40B4-BE49-F238E27FC236}">
                <a16:creationId xmlns:a16="http://schemas.microsoft.com/office/drawing/2014/main" id="{086B7E03-8B30-470C-AE9E-AB4A4F0C95E8}"/>
              </a:ext>
            </a:extLst>
          </p:cNvPr>
          <p:cNvSpPr>
            <a:spLocks noGrp="1"/>
          </p:cNvSpPr>
          <p:nvPr/>
        </p:nvSpPr>
        <p:spPr>
          <a:xfrm>
            <a:off x="13462000" y="4064000"/>
            <a:ext cx="1524000" cy="63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owner_physical-text-22">
            <a:extLst>
              <a:ext uri="{FF2B5EF4-FFF2-40B4-BE49-F238E27FC236}">
                <a16:creationId xmlns:a16="http://schemas.microsoft.com/office/drawing/2014/main" id="{E97C939A-E70A-41CD-8054-68399AD05FD1}"/>
              </a:ext>
            </a:extLst>
          </p:cNvPr>
          <p:cNvSpPr>
            <a:spLocks noGrp="1"/>
          </p:cNvSpPr>
          <p:nvPr/>
        </p:nvSpPr>
        <p:spPr>
          <a:xfrm>
            <a:off x="13462000" y="4191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RGB LED</a:t>
            </a:r>
            <a:endParaRPr sz="2000"/>
          </a:p>
        </p:txBody>
      </p:sp>
      <p:sp>
        <p:nvSpPr>
          <p:cNvPr id="24" name="owner_physical-text-23">
            <a:extLst>
              <a:ext uri="{FF2B5EF4-FFF2-40B4-BE49-F238E27FC236}">
                <a16:creationId xmlns:a16="http://schemas.microsoft.com/office/drawing/2014/main" id="{260A2CD4-CF40-41E6-B928-7AF43831F32D}"/>
              </a:ext>
            </a:extLst>
          </p:cNvPr>
          <p:cNvSpPr>
            <a:spLocks noGrp="1"/>
          </p:cNvSpPr>
          <p:nvPr/>
        </p:nvSpPr>
        <p:spPr>
          <a:xfrm>
            <a:off x="7620000" y="73660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008F86"/>
                </a:solidFill>
                <a:latin typeface="Noto Sans TC"/>
                <a:ea typeface="Noto Sans TC"/>
                <a:cs typeface="Noto Sans TC"/>
              </a:rPr>
              <a:t>同一個 LedService，分工受理與執行。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20743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mit_window-shape-1">
            <a:extLst>
              <a:ext uri="{FF2B5EF4-FFF2-40B4-BE49-F238E27FC236}">
                <a16:creationId xmlns:a16="http://schemas.microsoft.com/office/drawing/2014/main" id="{67FFE1E3-D732-4755-BAB9-64BACAE3A51C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submit_window-text-2">
            <a:extLst>
              <a:ext uri="{FF2B5EF4-FFF2-40B4-BE49-F238E27FC236}">
                <a16:creationId xmlns:a16="http://schemas.microsoft.com/office/drawing/2014/main" id="{E393EDED-6C9F-4FE4-ACDE-C69EC8823745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共同規則</a:t>
            </a:r>
            <a:endParaRPr sz="1400"/>
          </a:p>
        </p:txBody>
      </p:sp>
      <p:sp>
        <p:nvSpPr>
          <p:cNvPr id="4" name="submit_window-text-3">
            <a:extLst>
              <a:ext uri="{FF2B5EF4-FFF2-40B4-BE49-F238E27FC236}">
                <a16:creationId xmlns:a16="http://schemas.microsoft.com/office/drawing/2014/main" id="{3D44CD7C-7ED9-42D9-978D-582F3EA33AEE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04</a:t>
            </a:r>
            <a:endParaRPr sz="1400"/>
          </a:p>
        </p:txBody>
      </p:sp>
      <p:sp>
        <p:nvSpPr>
          <p:cNvPr id="5" name="submit_window-text-4">
            <a:extLst>
              <a:ext uri="{FF2B5EF4-FFF2-40B4-BE49-F238E27FC236}">
                <a16:creationId xmlns:a16="http://schemas.microsoft.com/office/drawing/2014/main" id="{416EF92A-C35B-4BEF-92FD-F11C668D8E9A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統一受理：submit()</a:t>
            </a:r>
            <a:endParaRPr sz="3200"/>
          </a:p>
        </p:txBody>
      </p:sp>
      <p:sp>
        <p:nvSpPr>
          <p:cNvPr id="6" name="submit_window-text-5">
            <a:extLst>
              <a:ext uri="{FF2B5EF4-FFF2-40B4-BE49-F238E27FC236}">
                <a16:creationId xmlns:a16="http://schemas.microsoft.com/office/drawing/2014/main" id="{80115AA7-8D21-45C0-8263-900338D5F9E2}"/>
              </a:ext>
            </a:extLst>
          </p:cNvPr>
          <p:cNvSpPr>
            <a:spLocks noGrp="1"/>
          </p:cNvSpPr>
          <p:nvPr/>
        </p:nvSpPr>
        <p:spPr>
          <a:xfrm>
            <a:off x="1016000" y="2794000"/>
            <a:ext cx="14224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檢查命令、busy 與容量，普通命令依 FIFO 排隊。</a:t>
            </a:r>
            <a:endParaRPr sz="2000"/>
          </a:p>
        </p:txBody>
      </p:sp>
      <p:sp>
        <p:nvSpPr>
          <p:cNvPr id="7" name="submit_window-shape-6">
            <a:extLst>
              <a:ext uri="{FF2B5EF4-FFF2-40B4-BE49-F238E27FC236}">
                <a16:creationId xmlns:a16="http://schemas.microsoft.com/office/drawing/2014/main" id="{CE642A2C-7C6E-47C3-A280-6012D80A7B67}"/>
              </a:ext>
            </a:extLst>
          </p:cNvPr>
          <p:cNvSpPr>
            <a:spLocks noGrp="1"/>
          </p:cNvSpPr>
          <p:nvPr/>
        </p:nvSpPr>
        <p:spPr>
          <a:xfrm>
            <a:off x="2032000" y="4318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ubmit_window-text-7">
            <a:extLst>
              <a:ext uri="{FF2B5EF4-FFF2-40B4-BE49-F238E27FC236}">
                <a16:creationId xmlns:a16="http://schemas.microsoft.com/office/drawing/2014/main" id="{F36C29C3-5751-422C-8927-E8A55210DA99}"/>
              </a:ext>
            </a:extLst>
          </p:cNvPr>
          <p:cNvSpPr>
            <a:spLocks noGrp="1"/>
          </p:cNvSpPr>
          <p:nvPr/>
        </p:nvSpPr>
        <p:spPr>
          <a:xfrm>
            <a:off x="2032000" y="4508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按鈕要求 cycle</a:t>
            </a:r>
            <a:endParaRPr sz="2000"/>
          </a:p>
        </p:txBody>
      </p:sp>
      <p:sp>
        <p:nvSpPr>
          <p:cNvPr id="9" name="submit_window-shape-8">
            <a:extLst>
              <a:ext uri="{FF2B5EF4-FFF2-40B4-BE49-F238E27FC236}">
                <a16:creationId xmlns:a16="http://schemas.microsoft.com/office/drawing/2014/main" id="{C9F0335D-16C1-43B0-BAAA-7F5FD3016D0F}"/>
              </a:ext>
            </a:extLst>
          </p:cNvPr>
          <p:cNvSpPr>
            <a:spLocks noGrp="1"/>
          </p:cNvSpPr>
          <p:nvPr/>
        </p:nvSpPr>
        <p:spPr>
          <a:xfrm>
            <a:off x="4572000" y="4699000"/>
            <a:ext cx="762000" cy="762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ubmit_window-shape-9">
            <a:extLst>
              <a:ext uri="{FF2B5EF4-FFF2-40B4-BE49-F238E27FC236}">
                <a16:creationId xmlns:a16="http://schemas.microsoft.com/office/drawing/2014/main" id="{77BAE211-D6E4-4512-B0EE-312DD265C8BA}"/>
              </a:ext>
            </a:extLst>
          </p:cNvPr>
          <p:cNvSpPr>
            <a:spLocks noGrp="1"/>
          </p:cNvSpPr>
          <p:nvPr/>
        </p:nvSpPr>
        <p:spPr>
          <a:xfrm>
            <a:off x="2032000" y="5334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ubmit_window-text-10">
            <a:extLst>
              <a:ext uri="{FF2B5EF4-FFF2-40B4-BE49-F238E27FC236}">
                <a16:creationId xmlns:a16="http://schemas.microsoft.com/office/drawing/2014/main" id="{1430BEF4-3072-4E5C-B9E3-2B1A40B8CBA4}"/>
              </a:ext>
            </a:extLst>
          </p:cNvPr>
          <p:cNvSpPr>
            <a:spLocks noGrp="1"/>
          </p:cNvSpPr>
          <p:nvPr/>
        </p:nvSpPr>
        <p:spPr>
          <a:xfrm>
            <a:off x="2032000" y="5524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Web 要求 cycle</a:t>
            </a:r>
            <a:endParaRPr sz="2000"/>
          </a:p>
        </p:txBody>
      </p:sp>
      <p:sp>
        <p:nvSpPr>
          <p:cNvPr id="12" name="submit_window-shape-11">
            <a:extLst>
              <a:ext uri="{FF2B5EF4-FFF2-40B4-BE49-F238E27FC236}">
                <a16:creationId xmlns:a16="http://schemas.microsoft.com/office/drawing/2014/main" id="{E89FD249-C876-46C9-85F1-149D88AC1700}"/>
              </a:ext>
            </a:extLst>
          </p:cNvPr>
          <p:cNvSpPr>
            <a:spLocks noGrp="1"/>
          </p:cNvSpPr>
          <p:nvPr/>
        </p:nvSpPr>
        <p:spPr>
          <a:xfrm>
            <a:off x="4572000" y="5715000"/>
            <a:ext cx="762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ubmit_window-shape-12">
            <a:extLst>
              <a:ext uri="{FF2B5EF4-FFF2-40B4-BE49-F238E27FC236}">
                <a16:creationId xmlns:a16="http://schemas.microsoft.com/office/drawing/2014/main" id="{E2902C80-5922-4B9F-9176-843E908CB58A}"/>
              </a:ext>
            </a:extLst>
          </p:cNvPr>
          <p:cNvSpPr>
            <a:spLocks noGrp="1"/>
          </p:cNvSpPr>
          <p:nvPr/>
        </p:nvSpPr>
        <p:spPr>
          <a:xfrm>
            <a:off x="2032000" y="6350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ubmit_window-text-13">
            <a:extLst>
              <a:ext uri="{FF2B5EF4-FFF2-40B4-BE49-F238E27FC236}">
                <a16:creationId xmlns:a16="http://schemas.microsoft.com/office/drawing/2014/main" id="{70E22258-5EE9-4C2B-AAC7-E55DA5006802}"/>
              </a:ext>
            </a:extLst>
          </p:cNvPr>
          <p:cNvSpPr>
            <a:spLocks noGrp="1"/>
          </p:cNvSpPr>
          <p:nvPr/>
        </p:nvSpPr>
        <p:spPr>
          <a:xfrm>
            <a:off x="2032000" y="6540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2000">
                <a:solidFill>
                  <a:srgbClr val="1E293B"/>
                </a:solidFill>
                <a:latin typeface="Noto Sans TC"/>
                <a:ea typeface="Noto Sans TC"/>
                <a:cs typeface="Noto Sans TC"/>
              </a:rPr>
              <a:t>光照要求警示</a:t>
            </a:r>
            <a:endParaRPr sz="2000"/>
          </a:p>
        </p:txBody>
      </p:sp>
      <p:sp>
        <p:nvSpPr>
          <p:cNvPr id="15" name="submit_window-shape-14">
            <a:extLst>
              <a:ext uri="{FF2B5EF4-FFF2-40B4-BE49-F238E27FC236}">
                <a16:creationId xmlns:a16="http://schemas.microsoft.com/office/drawing/2014/main" id="{29987BE4-30BE-4ECF-ABBA-22C3A2F751F8}"/>
              </a:ext>
            </a:extLst>
          </p:cNvPr>
          <p:cNvSpPr>
            <a:spLocks noGrp="1"/>
          </p:cNvSpPr>
          <p:nvPr/>
        </p:nvSpPr>
        <p:spPr>
          <a:xfrm flipV="1">
            <a:off x="4572000" y="5969000"/>
            <a:ext cx="762000" cy="762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ubmit_window-shape-15">
            <a:extLst>
              <a:ext uri="{FF2B5EF4-FFF2-40B4-BE49-F238E27FC236}">
                <a16:creationId xmlns:a16="http://schemas.microsoft.com/office/drawing/2014/main" id="{B67749AD-ACFD-47B5-A6EF-5BD9DA157D5A}"/>
              </a:ext>
            </a:extLst>
          </p:cNvPr>
          <p:cNvSpPr>
            <a:spLocks noGrp="1"/>
          </p:cNvSpPr>
          <p:nvPr/>
        </p:nvSpPr>
        <p:spPr>
          <a:xfrm>
            <a:off x="5334000" y="4572000"/>
            <a:ext cx="3556000" cy="2286000"/>
          </a:xfrm>
          <a:prstGeom prst="roundRect">
            <a:avLst>
              <a:gd name="adj" fmla="val 6667"/>
            </a:avLst>
          </a:prstGeom>
          <a:solidFill>
            <a:srgbClr val="1A237E"/>
          </a:solidFill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ubmit_window-text-16">
            <a:extLst>
              <a:ext uri="{FF2B5EF4-FFF2-40B4-BE49-F238E27FC236}">
                <a16:creationId xmlns:a16="http://schemas.microsoft.com/office/drawing/2014/main" id="{CE8038F8-810B-4E19-A3BD-A13B192A0E56}"/>
              </a:ext>
            </a:extLst>
          </p:cNvPr>
          <p:cNvSpPr>
            <a:spLocks noGrp="1"/>
          </p:cNvSpPr>
          <p:nvPr/>
        </p:nvSpPr>
        <p:spPr>
          <a:xfrm>
            <a:off x="5588000" y="4826000"/>
            <a:ext cx="3048000" cy="17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3000"/>
              </a:lnSpc>
              <a:buNone/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submit()</a:t>
            </a:r>
            <a:endParaRPr sz="2000"/>
          </a:p>
          <a:p>
            <a:pPr marL="0" indent="0" algn="ctr">
              <a:lnSpc>
                <a:spcPts val="2100"/>
              </a:lnSpc>
              <a:buNone/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命令種類</a:t>
            </a:r>
            <a:endParaRPr sz="2000"/>
          </a:p>
          <a:p>
            <a:pPr marL="0" indent="0" algn="ctr">
              <a:lnSpc>
                <a:spcPts val="2100"/>
              </a:lnSpc>
              <a:buNone/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busy 狀態</a:t>
            </a:r>
            <a:endParaRPr sz="2000"/>
          </a:p>
          <a:p>
            <a:pPr marL="0" indent="0" algn="ctr">
              <a:lnSpc>
                <a:spcPts val="2100"/>
              </a:lnSpc>
              <a:buNone/>
              <a:def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佇列容量</a:t>
            </a:r>
            <a:endParaRPr sz="2000"/>
          </a:p>
        </p:txBody>
      </p:sp>
      <p:sp>
        <p:nvSpPr>
          <p:cNvPr id="18" name="submit_window-shape-17">
            <a:extLst>
              <a:ext uri="{FF2B5EF4-FFF2-40B4-BE49-F238E27FC236}">
                <a16:creationId xmlns:a16="http://schemas.microsoft.com/office/drawing/2014/main" id="{8BF9AFA3-13DB-4DE9-B511-FC06602330A9}"/>
              </a:ext>
            </a:extLst>
          </p:cNvPr>
          <p:cNvSpPr>
            <a:spLocks noGrp="1"/>
          </p:cNvSpPr>
          <p:nvPr/>
        </p:nvSpPr>
        <p:spPr>
          <a:xfrm flipV="1">
            <a:off x="8890000" y="4953000"/>
            <a:ext cx="1016000" cy="381000"/>
          </a:xfrm>
          <a:prstGeom prst="line">
            <a:avLst/>
          </a:prstGeom>
          <a:ln w="508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ubmit_window-text-18">
            <a:extLst>
              <a:ext uri="{FF2B5EF4-FFF2-40B4-BE49-F238E27FC236}">
                <a16:creationId xmlns:a16="http://schemas.microsoft.com/office/drawing/2014/main" id="{C675F116-BB39-400C-A453-3C47BB00916E}"/>
              </a:ext>
            </a:extLst>
          </p:cNvPr>
          <p:cNvSpPr>
            <a:spLocks noGrp="1"/>
          </p:cNvSpPr>
          <p:nvPr/>
        </p:nvSpPr>
        <p:spPr>
          <a:xfrm>
            <a:off x="10160000" y="4762500"/>
            <a:ext cx="381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008F86"/>
                </a:solidFill>
                <a:latin typeface="Noto Sans TC"/>
                <a:ea typeface="Noto Sans TC"/>
                <a:cs typeface="Noto Sans TC"/>
              </a:rPr>
              <a:t>受理 accepted</a:t>
            </a:r>
            <a:endParaRPr sz="2000"/>
          </a:p>
        </p:txBody>
      </p:sp>
      <p:sp>
        <p:nvSpPr>
          <p:cNvPr id="20" name="submit_window-shape-19">
            <a:extLst>
              <a:ext uri="{FF2B5EF4-FFF2-40B4-BE49-F238E27FC236}">
                <a16:creationId xmlns:a16="http://schemas.microsoft.com/office/drawing/2014/main" id="{6413BB47-BB7F-4E47-87BB-5DD34A6014FD}"/>
              </a:ext>
            </a:extLst>
          </p:cNvPr>
          <p:cNvSpPr>
            <a:spLocks noGrp="1"/>
          </p:cNvSpPr>
          <p:nvPr/>
        </p:nvSpPr>
        <p:spPr>
          <a:xfrm>
            <a:off x="8890000" y="6096000"/>
            <a:ext cx="1016000" cy="381000"/>
          </a:xfrm>
          <a:prstGeom prst="line">
            <a:avLst/>
          </a:prstGeom>
          <a:ln w="50800">
            <a:solidFill>
              <a:srgbClr val="FF8F0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ubmit_window-text-20">
            <a:extLst>
              <a:ext uri="{FF2B5EF4-FFF2-40B4-BE49-F238E27FC236}">
                <a16:creationId xmlns:a16="http://schemas.microsoft.com/office/drawing/2014/main" id="{18555EB9-7852-4BBD-B8B2-5C53A7C337D0}"/>
              </a:ext>
            </a:extLst>
          </p:cNvPr>
          <p:cNvSpPr>
            <a:spLocks noGrp="1"/>
          </p:cNvSpPr>
          <p:nvPr/>
        </p:nvSpPr>
        <p:spPr>
          <a:xfrm>
            <a:off x="10160000" y="6286500"/>
            <a:ext cx="381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F59600"/>
                </a:solidFill>
                <a:latin typeface="Noto Sans TC"/>
                <a:ea typeface="Noto Sans TC"/>
                <a:cs typeface="Noto Sans TC"/>
              </a:rPr>
              <a:t>拒絕並附原因</a:t>
            </a:r>
            <a:endParaRPr sz="2000"/>
          </a:p>
        </p:txBody>
      </p:sp>
      <p:sp>
        <p:nvSpPr>
          <p:cNvPr id="22" name="submit_window-text-21">
            <a:extLst>
              <a:ext uri="{FF2B5EF4-FFF2-40B4-BE49-F238E27FC236}">
                <a16:creationId xmlns:a16="http://schemas.microsoft.com/office/drawing/2014/main" id="{4C68329E-9F18-40CB-8911-0992A5617465}"/>
              </a:ext>
            </a:extLst>
          </p:cNvPr>
          <p:cNvSpPr>
            <a:spLocks noGrp="1"/>
          </p:cNvSpPr>
          <p:nvPr/>
        </p:nvSpPr>
        <p:spPr>
          <a:xfrm>
            <a:off x="1016000" y="7620000"/>
            <a:ext cx="1422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佇列最多 8 筆，滿載就回覆 queue_full。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368269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eipt_lifecycle-shape-1">
            <a:extLst>
              <a:ext uri="{FF2B5EF4-FFF2-40B4-BE49-F238E27FC236}">
                <a16:creationId xmlns:a16="http://schemas.microsoft.com/office/drawing/2014/main" id="{6CE24031-D347-4BBF-A15C-C4131E3EE08C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receipt_lifecycle-text-2">
            <a:extLst>
              <a:ext uri="{FF2B5EF4-FFF2-40B4-BE49-F238E27FC236}">
                <a16:creationId xmlns:a16="http://schemas.microsoft.com/office/drawing/2014/main" id="{1E947FE5-A41F-4859-A483-795C839815E6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命令收據</a:t>
            </a:r>
            <a:endParaRPr sz="1400"/>
          </a:p>
        </p:txBody>
      </p:sp>
      <p:sp>
        <p:nvSpPr>
          <p:cNvPr id="4" name="receipt_lifecycle-text-3">
            <a:extLst>
              <a:ext uri="{FF2B5EF4-FFF2-40B4-BE49-F238E27FC236}">
                <a16:creationId xmlns:a16="http://schemas.microsoft.com/office/drawing/2014/main" id="{13C0CB09-E6C7-4B77-AC3A-E144A081A82F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05</a:t>
            </a:r>
            <a:endParaRPr sz="1400"/>
          </a:p>
        </p:txBody>
      </p:sp>
      <p:sp>
        <p:nvSpPr>
          <p:cNvPr id="5" name="receipt_lifecycle-text-4">
            <a:extLst>
              <a:ext uri="{FF2B5EF4-FFF2-40B4-BE49-F238E27FC236}">
                <a16:creationId xmlns:a16="http://schemas.microsoft.com/office/drawing/2014/main" id="{104EEB53-BAB4-4C65-A711-C08FE1A078AD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已受理，仍要確認結果</a:t>
            </a:r>
            <a:endParaRPr sz="3200"/>
          </a:p>
        </p:txBody>
      </p:sp>
      <p:sp>
        <p:nvSpPr>
          <p:cNvPr id="6" name="receipt_lifecycle-text-5">
            <a:extLst>
              <a:ext uri="{FF2B5EF4-FFF2-40B4-BE49-F238E27FC236}">
                <a16:creationId xmlns:a16="http://schemas.microsoft.com/office/drawing/2014/main" id="{8F2F90C5-FE49-4B54-9B53-3C2E8953B6E6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HTTP 202 表示已受理，完成與否要用命令 ID 查詢。</a:t>
            </a:r>
            <a:endParaRPr sz="2000"/>
          </a:p>
        </p:txBody>
      </p:sp>
      <p:sp>
        <p:nvSpPr>
          <p:cNvPr id="7" name="receipt_lifecycle-shape-6">
            <a:extLst>
              <a:ext uri="{FF2B5EF4-FFF2-40B4-BE49-F238E27FC236}">
                <a16:creationId xmlns:a16="http://schemas.microsoft.com/office/drawing/2014/main" id="{697201E8-0099-478F-A83B-AE3A0C658F29}"/>
              </a:ext>
            </a:extLst>
          </p:cNvPr>
          <p:cNvSpPr>
            <a:spLocks noGrp="1"/>
          </p:cNvSpPr>
          <p:nvPr/>
        </p:nvSpPr>
        <p:spPr>
          <a:xfrm>
            <a:off x="1524000" y="4064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eceipt_lifecycle-text-7">
            <a:extLst>
              <a:ext uri="{FF2B5EF4-FFF2-40B4-BE49-F238E27FC236}">
                <a16:creationId xmlns:a16="http://schemas.microsoft.com/office/drawing/2014/main" id="{051AB5D1-0622-476D-BE76-49333E6A023B}"/>
              </a:ext>
            </a:extLst>
          </p:cNvPr>
          <p:cNvSpPr>
            <a:spLocks noGrp="1"/>
          </p:cNvSpPr>
          <p:nvPr/>
        </p:nvSpPr>
        <p:spPr>
          <a:xfrm>
            <a:off x="1524000" y="42545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800">
                <a:solidFill>
                  <a:srgbClr val="1E293B"/>
                </a:solidFill>
                <a:latin typeface="Roboto Mono"/>
                <a:ea typeface="Roboto Mono"/>
                <a:cs typeface="Roboto Mono"/>
              </a:rPr>
              <a:t>accepted</a:t>
            </a:r>
            <a:endParaRPr sz="1800"/>
          </a:p>
        </p:txBody>
      </p:sp>
      <p:sp>
        <p:nvSpPr>
          <p:cNvPr id="9" name="receipt_lifecycle-shape-8">
            <a:extLst>
              <a:ext uri="{FF2B5EF4-FFF2-40B4-BE49-F238E27FC236}">
                <a16:creationId xmlns:a16="http://schemas.microsoft.com/office/drawing/2014/main" id="{EA231240-32CD-4597-824E-033D4BB93C5E}"/>
              </a:ext>
            </a:extLst>
          </p:cNvPr>
          <p:cNvSpPr>
            <a:spLocks noGrp="1"/>
          </p:cNvSpPr>
          <p:nvPr/>
        </p:nvSpPr>
        <p:spPr>
          <a:xfrm>
            <a:off x="3556000" y="4445000"/>
            <a:ext cx="1778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receipt_lifecycle-shape-9">
            <a:extLst>
              <a:ext uri="{FF2B5EF4-FFF2-40B4-BE49-F238E27FC236}">
                <a16:creationId xmlns:a16="http://schemas.microsoft.com/office/drawing/2014/main" id="{99D80C51-1B6C-4FAB-98CA-B34FFD1D0F5D}"/>
              </a:ext>
            </a:extLst>
          </p:cNvPr>
          <p:cNvSpPr>
            <a:spLocks noGrp="1"/>
          </p:cNvSpPr>
          <p:nvPr/>
        </p:nvSpPr>
        <p:spPr>
          <a:xfrm>
            <a:off x="5334000" y="4064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eceipt_lifecycle-text-10">
            <a:extLst>
              <a:ext uri="{FF2B5EF4-FFF2-40B4-BE49-F238E27FC236}">
                <a16:creationId xmlns:a16="http://schemas.microsoft.com/office/drawing/2014/main" id="{20EF5795-71CF-4490-947F-B3FF1AE32518}"/>
              </a:ext>
            </a:extLst>
          </p:cNvPr>
          <p:cNvSpPr>
            <a:spLocks noGrp="1"/>
          </p:cNvSpPr>
          <p:nvPr/>
        </p:nvSpPr>
        <p:spPr>
          <a:xfrm>
            <a:off x="5334000" y="42545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800">
                <a:solidFill>
                  <a:srgbClr val="1E293B"/>
                </a:solidFill>
                <a:latin typeface="Roboto Mono"/>
                <a:ea typeface="Roboto Mono"/>
                <a:cs typeface="Roboto Mono"/>
              </a:rPr>
              <a:t>executing</a:t>
            </a:r>
            <a:endParaRPr sz="1800"/>
          </a:p>
        </p:txBody>
      </p:sp>
      <p:sp>
        <p:nvSpPr>
          <p:cNvPr id="12" name="receipt_lifecycle-shape-11">
            <a:extLst>
              <a:ext uri="{FF2B5EF4-FFF2-40B4-BE49-F238E27FC236}">
                <a16:creationId xmlns:a16="http://schemas.microsoft.com/office/drawing/2014/main" id="{28D38A9D-B221-4CE5-B7E4-50B90E97B944}"/>
              </a:ext>
            </a:extLst>
          </p:cNvPr>
          <p:cNvSpPr>
            <a:spLocks noGrp="1"/>
          </p:cNvSpPr>
          <p:nvPr/>
        </p:nvSpPr>
        <p:spPr>
          <a:xfrm>
            <a:off x="7366000" y="4445000"/>
            <a:ext cx="1778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eceipt_lifecycle-shape-12">
            <a:extLst>
              <a:ext uri="{FF2B5EF4-FFF2-40B4-BE49-F238E27FC236}">
                <a16:creationId xmlns:a16="http://schemas.microsoft.com/office/drawing/2014/main" id="{734F35CE-830B-4548-A7C5-1E0269AAB081}"/>
              </a:ext>
            </a:extLst>
          </p:cNvPr>
          <p:cNvSpPr>
            <a:spLocks noGrp="1"/>
          </p:cNvSpPr>
          <p:nvPr/>
        </p:nvSpPr>
        <p:spPr>
          <a:xfrm>
            <a:off x="9144000" y="4064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1A237E"/>
          </a:solidFill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receipt_lifecycle-text-13">
            <a:extLst>
              <a:ext uri="{FF2B5EF4-FFF2-40B4-BE49-F238E27FC236}">
                <a16:creationId xmlns:a16="http://schemas.microsoft.com/office/drawing/2014/main" id="{8B4A427D-008B-470E-AF41-0E290433C54A}"/>
              </a:ext>
            </a:extLst>
          </p:cNvPr>
          <p:cNvSpPr>
            <a:spLocks noGrp="1"/>
          </p:cNvSpPr>
          <p:nvPr/>
        </p:nvSpPr>
        <p:spPr>
          <a:xfrm>
            <a:off x="9144000" y="42545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800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executed</a:t>
            </a:r>
            <a:endParaRPr sz="1800"/>
          </a:p>
        </p:txBody>
      </p:sp>
      <p:sp>
        <p:nvSpPr>
          <p:cNvPr id="15" name="receipt_lifecycle-shape-14">
            <a:extLst>
              <a:ext uri="{FF2B5EF4-FFF2-40B4-BE49-F238E27FC236}">
                <a16:creationId xmlns:a16="http://schemas.microsoft.com/office/drawing/2014/main" id="{7B7501DB-6D3E-43CA-B593-D12E89343D55}"/>
              </a:ext>
            </a:extLst>
          </p:cNvPr>
          <p:cNvSpPr>
            <a:spLocks noGrp="1"/>
          </p:cNvSpPr>
          <p:nvPr/>
        </p:nvSpPr>
        <p:spPr>
          <a:xfrm>
            <a:off x="2540000" y="4826000"/>
            <a:ext cx="9144" cy="1016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receipt_lifecycle-shape-15">
            <a:extLst>
              <a:ext uri="{FF2B5EF4-FFF2-40B4-BE49-F238E27FC236}">
                <a16:creationId xmlns:a16="http://schemas.microsoft.com/office/drawing/2014/main" id="{A45DB396-FCA6-4BA7-9B18-41CE581BA269}"/>
              </a:ext>
            </a:extLst>
          </p:cNvPr>
          <p:cNvSpPr>
            <a:spLocks noGrp="1"/>
          </p:cNvSpPr>
          <p:nvPr/>
        </p:nvSpPr>
        <p:spPr>
          <a:xfrm>
            <a:off x="1524000" y="5842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receipt_lifecycle-text-16">
            <a:extLst>
              <a:ext uri="{FF2B5EF4-FFF2-40B4-BE49-F238E27FC236}">
                <a16:creationId xmlns:a16="http://schemas.microsoft.com/office/drawing/2014/main" id="{7CF5472A-F938-4D72-8721-897DB8FE698A}"/>
              </a:ext>
            </a:extLst>
          </p:cNvPr>
          <p:cNvSpPr>
            <a:spLocks noGrp="1"/>
          </p:cNvSpPr>
          <p:nvPr/>
        </p:nvSpPr>
        <p:spPr>
          <a:xfrm>
            <a:off x="1524000" y="60325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800">
                <a:solidFill>
                  <a:srgbClr val="1E293B"/>
                </a:solidFill>
                <a:latin typeface="Roboto Mono"/>
                <a:ea typeface="Roboto Mono"/>
                <a:cs typeface="Roboto Mono"/>
              </a:rPr>
              <a:t>rejected</a:t>
            </a:r>
            <a:endParaRPr sz="1800"/>
          </a:p>
        </p:txBody>
      </p:sp>
      <p:sp>
        <p:nvSpPr>
          <p:cNvPr id="18" name="receipt_lifecycle-text-17">
            <a:extLst>
              <a:ext uri="{FF2B5EF4-FFF2-40B4-BE49-F238E27FC236}">
                <a16:creationId xmlns:a16="http://schemas.microsoft.com/office/drawing/2014/main" id="{25DF0679-1414-4822-81BF-18486BD0F01F}"/>
              </a:ext>
            </a:extLst>
          </p:cNvPr>
          <p:cNvSpPr>
            <a:spLocks noGrp="1"/>
          </p:cNvSpPr>
          <p:nvPr/>
        </p:nvSpPr>
        <p:spPr>
          <a:xfrm>
            <a:off x="1016000" y="67310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2100"/>
              </a:lnSpc>
              <a:buNone/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pPr>
            <a:r>
              <a: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rPr>
              <a:t>排隊換色遇到警示，</a:t>
            </a:r>
            <a:endParaRPr sz="1400"/>
          </a:p>
          <a:p>
            <a:pPr marL="0" indent="0" algn="ctr">
              <a:lnSpc>
                <a:spcPts val="2100"/>
              </a:lnSpc>
              <a:buNone/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pPr>
            <a:r>
              <a: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rPr>
              <a:t>可改為 rejected</a:t>
            </a:r>
            <a:endParaRPr sz="1400"/>
          </a:p>
        </p:txBody>
      </p:sp>
      <p:sp>
        <p:nvSpPr>
          <p:cNvPr id="19" name="receipt_lifecycle-shape-18">
            <a:extLst>
              <a:ext uri="{FF2B5EF4-FFF2-40B4-BE49-F238E27FC236}">
                <a16:creationId xmlns:a16="http://schemas.microsoft.com/office/drawing/2014/main" id="{ECEC2CAE-C032-4378-8491-CC124462AC7A}"/>
              </a:ext>
            </a:extLst>
          </p:cNvPr>
          <p:cNvSpPr>
            <a:spLocks noGrp="1"/>
          </p:cNvSpPr>
          <p:nvPr/>
        </p:nvSpPr>
        <p:spPr>
          <a:xfrm>
            <a:off x="6350000" y="4826000"/>
            <a:ext cx="9144" cy="1016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receipt_lifecycle-shape-19">
            <a:extLst>
              <a:ext uri="{FF2B5EF4-FFF2-40B4-BE49-F238E27FC236}">
                <a16:creationId xmlns:a16="http://schemas.microsoft.com/office/drawing/2014/main" id="{34F9C065-D320-4F38-9B8B-58DCBD30AB30}"/>
              </a:ext>
            </a:extLst>
          </p:cNvPr>
          <p:cNvSpPr>
            <a:spLocks noGrp="1"/>
          </p:cNvSpPr>
          <p:nvPr/>
        </p:nvSpPr>
        <p:spPr>
          <a:xfrm>
            <a:off x="5334000" y="5842000"/>
            <a:ext cx="2032000" cy="76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receipt_lifecycle-text-20">
            <a:extLst>
              <a:ext uri="{FF2B5EF4-FFF2-40B4-BE49-F238E27FC236}">
                <a16:creationId xmlns:a16="http://schemas.microsoft.com/office/drawing/2014/main" id="{26FBB4A7-0A31-4C74-BEB2-18B862E06B56}"/>
              </a:ext>
            </a:extLst>
          </p:cNvPr>
          <p:cNvSpPr>
            <a:spLocks noGrp="1"/>
          </p:cNvSpPr>
          <p:nvPr/>
        </p:nvSpPr>
        <p:spPr>
          <a:xfrm>
            <a:off x="5334000" y="6032500"/>
            <a:ext cx="2032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sz="1800">
                <a:solidFill>
                  <a:srgbClr val="1E293B"/>
                </a:solidFill>
                <a:latin typeface="Roboto Mono"/>
                <a:ea typeface="Roboto Mono"/>
                <a:cs typeface="Roboto Mono"/>
              </a:rPr>
              <a:t>failed</a:t>
            </a:r>
            <a:endParaRPr sz="1800"/>
          </a:p>
        </p:txBody>
      </p:sp>
      <p:sp>
        <p:nvSpPr>
          <p:cNvPr id="22" name="receipt_lifecycle-text-21">
            <a:extLst>
              <a:ext uri="{FF2B5EF4-FFF2-40B4-BE49-F238E27FC236}">
                <a16:creationId xmlns:a16="http://schemas.microsoft.com/office/drawing/2014/main" id="{6B340B60-697E-4E0D-AAFA-78B26B172779}"/>
              </a:ext>
            </a:extLst>
          </p:cNvPr>
          <p:cNvSpPr>
            <a:spLocks noGrp="1"/>
          </p:cNvSpPr>
          <p:nvPr/>
        </p:nvSpPr>
        <p:spPr>
          <a:xfrm>
            <a:off x="4826000" y="6731000"/>
            <a:ext cx="3048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defRPr>
            </a:pPr>
            <a:r>
              <a:rPr sz="2025">
                <a:solidFill>
                  <a:srgbClr val="F59600"/>
                </a:solidFill>
                <a:latin typeface="Noto Sans TC"/>
                <a:ea typeface="Noto Sans TC"/>
                <a:cs typeface="Noto Sans TC"/>
              </a:rPr>
              <a:t>GPIO 寫入錯誤</a:t>
            </a:r>
            <a:endParaRPr sz="1400"/>
          </a:p>
        </p:txBody>
      </p:sp>
      <p:sp>
        <p:nvSpPr>
          <p:cNvPr id="23" name="receipt_lifecycle-text-22">
            <a:extLst>
              <a:ext uri="{FF2B5EF4-FFF2-40B4-BE49-F238E27FC236}">
                <a16:creationId xmlns:a16="http://schemas.microsoft.com/office/drawing/2014/main" id="{E2A6DFEA-AB5C-4191-BCC7-4A24FAB2B398}"/>
              </a:ext>
            </a:extLst>
          </p:cNvPr>
          <p:cNvSpPr>
            <a:spLocks noGrp="1"/>
          </p:cNvSpPr>
          <p:nvPr/>
        </p:nvSpPr>
        <p:spPr>
          <a:xfrm>
            <a:off x="1016000" y="7620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收據記錄最後結果，最初的回覆不會自動更新。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19436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rmal_effect_output-shape-1">
            <a:extLst>
              <a:ext uri="{FF2B5EF4-FFF2-40B4-BE49-F238E27FC236}">
                <a16:creationId xmlns:a16="http://schemas.microsoft.com/office/drawing/2014/main" id="{B77B9FCA-0A46-4F35-A1B9-2513110901F6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normal_effect_output-text-2">
            <a:extLst>
              <a:ext uri="{FF2B5EF4-FFF2-40B4-BE49-F238E27FC236}">
                <a16:creationId xmlns:a16="http://schemas.microsoft.com/office/drawing/2014/main" id="{3E659322-CEC6-43C0-A1E3-3B7E3C1775C5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狀態分工</a:t>
            </a:r>
            <a:endParaRPr sz="1400"/>
          </a:p>
        </p:txBody>
      </p:sp>
      <p:sp>
        <p:nvSpPr>
          <p:cNvPr id="4" name="normal_effect_output-text-3">
            <a:extLst>
              <a:ext uri="{FF2B5EF4-FFF2-40B4-BE49-F238E27FC236}">
                <a16:creationId xmlns:a16="http://schemas.microsoft.com/office/drawing/2014/main" id="{784F56EB-7FC8-464F-B22F-ED9ECD34C9EA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06</a:t>
            </a:r>
            <a:endParaRPr sz="1400"/>
          </a:p>
        </p:txBody>
      </p:sp>
      <p:sp>
        <p:nvSpPr>
          <p:cNvPr id="5" name="normal_effect_output-text-4">
            <a:extLst>
              <a:ext uri="{FF2B5EF4-FFF2-40B4-BE49-F238E27FC236}">
                <a16:creationId xmlns:a16="http://schemas.microsoft.com/office/drawing/2014/main" id="{AE53D16C-ACEA-4477-9B1C-DF58352AC200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正常狀態、暫時效果與輸出</a:t>
            </a:r>
            <a:endParaRPr sz="3200"/>
          </a:p>
        </p:txBody>
      </p:sp>
      <p:sp>
        <p:nvSpPr>
          <p:cNvPr id="6" name="normal_effect_output-text-5">
            <a:extLst>
              <a:ext uri="{FF2B5EF4-FFF2-40B4-BE49-F238E27FC236}">
                <a16:creationId xmlns:a16="http://schemas.microsoft.com/office/drawing/2014/main" id="{2DEA2935-A952-4BB2-97B4-1D31D786A020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以原本亮藍燈、現在正在紅閃為例。</a:t>
            </a:r>
            <a:endParaRPr sz="2000"/>
          </a:p>
        </p:txBody>
      </p:sp>
      <p:sp>
        <p:nvSpPr>
          <p:cNvPr id="7" name="normal_effect_output-shape-6">
            <a:extLst>
              <a:ext uri="{FF2B5EF4-FFF2-40B4-BE49-F238E27FC236}">
                <a16:creationId xmlns:a16="http://schemas.microsoft.com/office/drawing/2014/main" id="{578CDE43-6963-4699-BDD9-F49856FD84D0}"/>
              </a:ext>
            </a:extLst>
          </p:cNvPr>
          <p:cNvSpPr>
            <a:spLocks noGrp="1"/>
          </p:cNvSpPr>
          <p:nvPr/>
        </p:nvSpPr>
        <p:spPr>
          <a:xfrm>
            <a:off x="2032000" y="3556000"/>
            <a:ext cx="12192000" cy="1016000"/>
          </a:xfrm>
          <a:prstGeom prst="roundRect">
            <a:avLst>
              <a:gd name="adj" fmla="val 10000"/>
            </a:avLst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8" name="normal_effect_output-text-7">
            <a:extLst>
              <a:ext uri="{FF2B5EF4-FFF2-40B4-BE49-F238E27FC236}">
                <a16:creationId xmlns:a16="http://schemas.microsoft.com/office/drawing/2014/main" id="{0A0B4A12-E056-4D5A-BD37-111587406E66}"/>
              </a:ext>
            </a:extLst>
          </p:cNvPr>
          <p:cNvSpPr>
            <a:spLocks noGrp="1"/>
          </p:cNvSpPr>
          <p:nvPr/>
        </p:nvSpPr>
        <p:spPr>
          <a:xfrm>
            <a:off x="2540000" y="3873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1. 正常狀態</a:t>
            </a:r>
            <a:endParaRPr sz="2000"/>
          </a:p>
        </p:txBody>
      </p:sp>
      <p:sp>
        <p:nvSpPr>
          <p:cNvPr id="9" name="normal_effect_output-text-8">
            <a:extLst>
              <a:ext uri="{FF2B5EF4-FFF2-40B4-BE49-F238E27FC236}">
                <a16:creationId xmlns:a16="http://schemas.microsoft.com/office/drawing/2014/main" id="{3753D2F4-40BC-477C-B99A-66CF6EC75627}"/>
              </a:ext>
            </a:extLst>
          </p:cNvPr>
          <p:cNvSpPr>
            <a:spLocks noGrp="1"/>
          </p:cNvSpPr>
          <p:nvPr/>
        </p:nvSpPr>
        <p:spPr>
          <a:xfrm>
            <a:off x="5080000" y="3873500"/>
            <a:ext cx="8636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原本的藍色與亮滅狀態</a:t>
            </a:r>
            <a:endParaRPr sz="1800"/>
          </a:p>
        </p:txBody>
      </p:sp>
      <p:sp>
        <p:nvSpPr>
          <p:cNvPr id="10" name="normal_effect_output-shape-9">
            <a:extLst>
              <a:ext uri="{FF2B5EF4-FFF2-40B4-BE49-F238E27FC236}">
                <a16:creationId xmlns:a16="http://schemas.microsoft.com/office/drawing/2014/main" id="{0C90F597-F9AF-4889-A2AE-11226DB747B0}"/>
              </a:ext>
            </a:extLst>
          </p:cNvPr>
          <p:cNvSpPr>
            <a:spLocks noGrp="1"/>
          </p:cNvSpPr>
          <p:nvPr/>
        </p:nvSpPr>
        <p:spPr>
          <a:xfrm>
            <a:off x="2032000" y="4953000"/>
            <a:ext cx="12192000" cy="1016000"/>
          </a:xfrm>
          <a:prstGeom prst="roundRect">
            <a:avLst>
              <a:gd name="adj" fmla="val 10000"/>
            </a:avLst>
          </a:prstGeom>
          <a:solidFill>
            <a:srgbClr val="FF8F00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11" name="normal_effect_output-text-10">
            <a:extLst>
              <a:ext uri="{FF2B5EF4-FFF2-40B4-BE49-F238E27FC236}">
                <a16:creationId xmlns:a16="http://schemas.microsoft.com/office/drawing/2014/main" id="{D8B9A895-936E-4448-AEC9-F6F8706DCAD7}"/>
              </a:ext>
            </a:extLst>
          </p:cNvPr>
          <p:cNvSpPr>
            <a:spLocks noGrp="1"/>
          </p:cNvSpPr>
          <p:nvPr/>
        </p:nvSpPr>
        <p:spPr>
          <a:xfrm>
            <a:off x="2540000" y="5270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2. 暫時效果</a:t>
            </a:r>
            <a:endParaRPr sz="2000"/>
          </a:p>
        </p:txBody>
      </p:sp>
      <p:sp>
        <p:nvSpPr>
          <p:cNvPr id="12" name="normal_effect_output-text-11">
            <a:extLst>
              <a:ext uri="{FF2B5EF4-FFF2-40B4-BE49-F238E27FC236}">
                <a16:creationId xmlns:a16="http://schemas.microsoft.com/office/drawing/2014/main" id="{503DC876-429A-4B58-B2C5-39C898780253}"/>
              </a:ext>
            </a:extLst>
          </p:cNvPr>
          <p:cNvSpPr>
            <a:spLocks noGrp="1"/>
          </p:cNvSpPr>
          <p:nvPr/>
        </p:nvSpPr>
        <p:spPr>
          <a:xfrm>
            <a:off x="5080000" y="5270500"/>
            <a:ext cx="8636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目前是紅亮或熄滅階段</a:t>
            </a:r>
            <a:endParaRPr sz="1800"/>
          </a:p>
        </p:txBody>
      </p:sp>
      <p:sp>
        <p:nvSpPr>
          <p:cNvPr id="13" name="normal_effect_output-shape-12">
            <a:extLst>
              <a:ext uri="{FF2B5EF4-FFF2-40B4-BE49-F238E27FC236}">
                <a16:creationId xmlns:a16="http://schemas.microsoft.com/office/drawing/2014/main" id="{039FA4D3-84CD-4F9F-8BFE-E2F95F9C08ED}"/>
              </a:ext>
            </a:extLst>
          </p:cNvPr>
          <p:cNvSpPr>
            <a:spLocks noGrp="1"/>
          </p:cNvSpPr>
          <p:nvPr/>
        </p:nvSpPr>
        <p:spPr>
          <a:xfrm>
            <a:off x="2032000" y="6350000"/>
            <a:ext cx="12192000" cy="1016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254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normal_effect_output-text-13">
            <a:extLst>
              <a:ext uri="{FF2B5EF4-FFF2-40B4-BE49-F238E27FC236}">
                <a16:creationId xmlns:a16="http://schemas.microsoft.com/office/drawing/2014/main" id="{AF02EE79-5019-4818-BBBB-EB61CA5306F0}"/>
              </a:ext>
            </a:extLst>
          </p:cNvPr>
          <p:cNvSpPr>
            <a:spLocks noGrp="1"/>
          </p:cNvSpPr>
          <p:nvPr/>
        </p:nvSpPr>
        <p:spPr>
          <a:xfrm>
            <a:off x="2540000" y="666750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000">
                <a:solidFill>
                  <a:srgbClr val="1A237E"/>
                </a:solidFill>
                <a:latin typeface="Noto Sans TC"/>
                <a:ea typeface="Noto Sans TC"/>
                <a:cs typeface="Noto Sans TC"/>
              </a:rPr>
              <a:t>3. 實際輸出</a:t>
            </a:r>
            <a:endParaRPr sz="2000"/>
          </a:p>
        </p:txBody>
      </p:sp>
      <p:sp>
        <p:nvSpPr>
          <p:cNvPr id="15" name="normal_effect_output-text-14">
            <a:extLst>
              <a:ext uri="{FF2B5EF4-FFF2-40B4-BE49-F238E27FC236}">
                <a16:creationId xmlns:a16="http://schemas.microsoft.com/office/drawing/2014/main" id="{85B25198-C831-41D4-A0AD-3B62911E470B}"/>
              </a:ext>
            </a:extLst>
          </p:cNvPr>
          <p:cNvSpPr>
            <a:spLocks noGrp="1"/>
          </p:cNvSpPr>
          <p:nvPr/>
        </p:nvSpPr>
        <p:spPr>
          <a:xfrm>
            <a:off x="5080000" y="6667500"/>
            <a:ext cx="8636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此刻 GPIO 呈現的顏色</a:t>
            </a:r>
            <a:endParaRPr sz="1800"/>
          </a:p>
        </p:txBody>
      </p:sp>
      <p:sp>
        <p:nvSpPr>
          <p:cNvPr id="16" name="normal_effect_output-text-15">
            <a:extLst>
              <a:ext uri="{FF2B5EF4-FFF2-40B4-BE49-F238E27FC236}">
                <a16:creationId xmlns:a16="http://schemas.microsoft.com/office/drawing/2014/main" id="{10B03E8B-DD16-46A9-A1C1-6BC7E9860088}"/>
              </a:ext>
            </a:extLst>
          </p:cNvPr>
          <p:cNvSpPr>
            <a:spLocks noGrp="1"/>
          </p:cNvSpPr>
          <p:nvPr/>
        </p:nvSpPr>
        <p:spPr>
          <a:xfrm>
            <a:off x="1016000" y="7874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效果結束後，恢復原色與亮滅狀態。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03858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button_timeline-shape-1">
            <a:extLst>
              <a:ext uri="{FF2B5EF4-FFF2-40B4-BE49-F238E27FC236}">
                <a16:creationId xmlns:a16="http://schemas.microsoft.com/office/drawing/2014/main" id="{48115BEE-5515-4165-8E6C-891505CD34BA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case_button_timeline-text-2">
            <a:extLst>
              <a:ext uri="{FF2B5EF4-FFF2-40B4-BE49-F238E27FC236}">
                <a16:creationId xmlns:a16="http://schemas.microsoft.com/office/drawing/2014/main" id="{67096E05-66F9-4C20-B5EB-5BD40363B0DD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案例一</a:t>
            </a:r>
            <a:endParaRPr sz="1400"/>
          </a:p>
        </p:txBody>
      </p:sp>
      <p:sp>
        <p:nvSpPr>
          <p:cNvPr id="4" name="case_button_timeline-text-3">
            <a:extLst>
              <a:ext uri="{FF2B5EF4-FFF2-40B4-BE49-F238E27FC236}">
                <a16:creationId xmlns:a16="http://schemas.microsoft.com/office/drawing/2014/main" id="{7F02D40D-E52B-4C92-8C84-810EB4C0C1EF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07</a:t>
            </a:r>
            <a:endParaRPr sz="1400"/>
          </a:p>
        </p:txBody>
      </p:sp>
      <p:sp>
        <p:nvSpPr>
          <p:cNvPr id="5" name="case_button_timeline-text-4">
            <a:extLst>
              <a:ext uri="{FF2B5EF4-FFF2-40B4-BE49-F238E27FC236}">
                <a16:creationId xmlns:a16="http://schemas.microsoft.com/office/drawing/2014/main" id="{AB5845F0-DA91-4113-8606-9FEDE11C7DA8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正常換色的三個時點</a:t>
            </a:r>
            <a:endParaRPr sz="3200"/>
          </a:p>
        </p:txBody>
      </p:sp>
      <p:graphicFrame>
        <p:nvGraphicFramePr>
          <p:cNvPr id="24" name="case_button_timeline-table-5">
            <a:extLst>
              <a:ext uri="{FF2B5EF4-FFF2-40B4-BE49-F238E27FC236}">
                <a16:creationId xmlns:a16="http://schemas.microsoft.com/office/drawing/2014/main" id="{CFD976DB-466B-4FE8-B82C-D82B52767A41}"/>
              </a:ext>
            </a:extLst>
          </p:cNvPr>
          <p:cNvGraphicFramePr/>
          <p:nvPr/>
        </p:nvGraphicFramePr>
        <p:xfrm>
          <a:off x="1016000" y="3048000"/>
          <a:ext cx="11379200" cy="2540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時點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正常顏色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實際輸出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命令結果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0" cmpd="sng">
                      <a:noFill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按下前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藍色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藍色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尚未產生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0" cmpd="sng">
                      <a:noFill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submit 後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藍色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藍色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accepted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0" cmpd="sng">
                      <a:noFill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owner 完成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綠色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綠色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75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executed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0" cmpd="sng">
                      <a:noFill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ase_button_timeline-shape-6">
            <a:extLst>
              <a:ext uri="{FF2B5EF4-FFF2-40B4-BE49-F238E27FC236}">
                <a16:creationId xmlns:a16="http://schemas.microsoft.com/office/drawing/2014/main" id="{AFE7F48F-8724-41F6-ADC2-2B9D45F51F07}"/>
              </a:ext>
            </a:extLst>
          </p:cNvPr>
          <p:cNvSpPr>
            <a:spLocks noGrp="1"/>
          </p:cNvSpPr>
          <p:nvPr/>
        </p:nvSpPr>
        <p:spPr>
          <a:xfrm>
            <a:off x="1016000" y="6096000"/>
            <a:ext cx="14224000" cy="15240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case_button_timeline-text-7">
            <a:extLst>
              <a:ext uri="{FF2B5EF4-FFF2-40B4-BE49-F238E27FC236}">
                <a16:creationId xmlns:a16="http://schemas.microsoft.com/office/drawing/2014/main" id="{8A4F6BDA-22DE-4F39-B19A-B4685068D389}"/>
              </a:ext>
            </a:extLst>
          </p:cNvPr>
          <p:cNvSpPr>
            <a:spLocks noGrp="1"/>
          </p:cNvSpPr>
          <p:nvPr/>
        </p:nvSpPr>
        <p:spPr>
          <a:xfrm>
            <a:off x="1270000" y="6350000"/>
            <a:ext cx="13716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lnSpc>
                <a:spcPts val="3000"/>
              </a:lnSpc>
              <a:buNone/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來源只送 cycle，由 owner 計算下一色。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83069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_low_light_sequence-shape-1">
            <a:extLst>
              <a:ext uri="{FF2B5EF4-FFF2-40B4-BE49-F238E27FC236}">
                <a16:creationId xmlns:a16="http://schemas.microsoft.com/office/drawing/2014/main" id="{C0EEC164-B73E-4C76-851B-06AD74976341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case_low_light_sequence-text-2">
            <a:extLst>
              <a:ext uri="{FF2B5EF4-FFF2-40B4-BE49-F238E27FC236}">
                <a16:creationId xmlns:a16="http://schemas.microsoft.com/office/drawing/2014/main" id="{A9517039-C366-4368-A4CB-6569AD75F8E8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案例二</a:t>
            </a:r>
            <a:endParaRPr sz="1400"/>
          </a:p>
        </p:txBody>
      </p:sp>
      <p:sp>
        <p:nvSpPr>
          <p:cNvPr id="4" name="case_low_light_sequence-text-3">
            <a:extLst>
              <a:ext uri="{FF2B5EF4-FFF2-40B4-BE49-F238E27FC236}">
                <a16:creationId xmlns:a16="http://schemas.microsoft.com/office/drawing/2014/main" id="{EE3EAF5F-FFAE-465C-8B6B-4E949E77A4CC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08</a:t>
            </a:r>
            <a:endParaRPr sz="1400"/>
          </a:p>
        </p:txBody>
      </p:sp>
      <p:sp>
        <p:nvSpPr>
          <p:cNvPr id="5" name="case_low_light_sequence-text-4">
            <a:extLst>
              <a:ext uri="{FF2B5EF4-FFF2-40B4-BE49-F238E27FC236}">
                <a16:creationId xmlns:a16="http://schemas.microsoft.com/office/drawing/2014/main" id="{75452AB9-CD15-4670-8F7F-BEB03E9D81CA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警示受理後，紅閃五次再恢復</a:t>
            </a:r>
            <a:endParaRPr sz="3200"/>
          </a:p>
        </p:txBody>
      </p:sp>
      <p:sp>
        <p:nvSpPr>
          <p:cNvPr id="6" name="case_low_light_sequence-text-5">
            <a:extLst>
              <a:ext uri="{FF2B5EF4-FFF2-40B4-BE49-F238E27FC236}">
                <a16:creationId xmlns:a16="http://schemas.microsoft.com/office/drawing/2014/main" id="{A0B10693-C461-4997-86AF-A55E15638955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警示從受理到恢復，全程占用 LED。</a:t>
            </a:r>
            <a:endParaRPr sz="2000"/>
          </a:p>
        </p:txBody>
      </p:sp>
      <p:sp>
        <p:nvSpPr>
          <p:cNvPr id="7" name="case_low_light_sequence-shape-6">
            <a:extLst>
              <a:ext uri="{FF2B5EF4-FFF2-40B4-BE49-F238E27FC236}">
                <a16:creationId xmlns:a16="http://schemas.microsoft.com/office/drawing/2014/main" id="{E818901D-BCFA-4F69-9F8E-ECBD136914A9}"/>
              </a:ext>
            </a:extLst>
          </p:cNvPr>
          <p:cNvSpPr>
            <a:spLocks noGrp="1"/>
          </p:cNvSpPr>
          <p:nvPr/>
        </p:nvSpPr>
        <p:spPr>
          <a:xfrm>
            <a:off x="1016000" y="3302000"/>
            <a:ext cx="14224000" cy="45720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case_low_light_sequence-text-7">
            <a:extLst>
              <a:ext uri="{FF2B5EF4-FFF2-40B4-BE49-F238E27FC236}">
                <a16:creationId xmlns:a16="http://schemas.microsoft.com/office/drawing/2014/main" id="{5D366094-A29A-4488-89FF-947BF1102D24}"/>
              </a:ext>
            </a:extLst>
          </p:cNvPr>
          <p:cNvSpPr>
            <a:spLocks noGrp="1"/>
          </p:cNvSpPr>
          <p:nvPr/>
        </p:nvSpPr>
        <p:spPr>
          <a:xfrm>
            <a:off x="1524000" y="3683000"/>
            <a:ext cx="13208000" cy="38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t>立即預約：busy 成立，拒絕未執行的換色。</a:t>
            </a:r>
          </a:p>
          <a:p>
            <a:pPr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t>保存狀態：記住原色與亮滅。</a:t>
            </a:r>
          </a:p>
          <a:p>
            <a:pPr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t>紅閃五次：依時間交替紅亮與全滅。</a:t>
            </a:r>
          </a:p>
          <a:p>
            <a:pPr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t>恢復原狀：完成收據，再解除 busy。</a:t>
            </a:r>
          </a:p>
        </p:txBody>
      </p:sp>
    </p:spTree>
    <p:extLst>
      <p:ext uri="{BB962C8B-B14F-4D97-AF65-F5344CB8AC3E}">
        <p14:creationId xmlns:p14="http://schemas.microsoft.com/office/powerpoint/2010/main" val="1862085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urrency_decision-shape-1">
            <a:extLst>
              <a:ext uri="{FF2B5EF4-FFF2-40B4-BE49-F238E27FC236}">
                <a16:creationId xmlns:a16="http://schemas.microsoft.com/office/drawing/2014/main" id="{2B5AE85A-4E98-4B9F-B153-5AED0222EE95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concurrency_decision-text-2">
            <a:extLst>
              <a:ext uri="{FF2B5EF4-FFF2-40B4-BE49-F238E27FC236}">
                <a16:creationId xmlns:a16="http://schemas.microsoft.com/office/drawing/2014/main" id="{B1D5FA25-21AC-4FBF-BFC6-6768779E984C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案例三</a:t>
            </a:r>
            <a:endParaRPr sz="1400"/>
          </a:p>
        </p:txBody>
      </p:sp>
      <p:sp>
        <p:nvSpPr>
          <p:cNvPr id="4" name="concurrency_decision-text-3">
            <a:extLst>
              <a:ext uri="{FF2B5EF4-FFF2-40B4-BE49-F238E27FC236}">
                <a16:creationId xmlns:a16="http://schemas.microsoft.com/office/drawing/2014/main" id="{396F7314-6251-4D37-8BA8-19107EAB62BB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09</a:t>
            </a:r>
            <a:endParaRPr sz="1400"/>
          </a:p>
        </p:txBody>
      </p:sp>
      <p:sp>
        <p:nvSpPr>
          <p:cNvPr id="5" name="concurrency_decision-text-4">
            <a:extLst>
              <a:ext uri="{FF2B5EF4-FFF2-40B4-BE49-F238E27FC236}">
                <a16:creationId xmlns:a16="http://schemas.microsoft.com/office/drawing/2014/main" id="{A5CE9FE2-44B3-4603-9001-F7975221C073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競爭時的三種結果</a:t>
            </a:r>
            <a:endParaRPr sz="3200"/>
          </a:p>
        </p:txBody>
      </p:sp>
      <p:sp>
        <p:nvSpPr>
          <p:cNvPr id="6" name="concurrency_decision-text-5">
            <a:extLst>
              <a:ext uri="{FF2B5EF4-FFF2-40B4-BE49-F238E27FC236}">
                <a16:creationId xmlns:a16="http://schemas.microsoft.com/office/drawing/2014/main" id="{8937AAEA-D185-4217-B169-A6C9D0087EFE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以「警示受理時，換色進度在哪裡」決定。</a:t>
            </a:r>
            <a:endParaRPr sz="2000"/>
          </a:p>
        </p:txBody>
      </p:sp>
      <p:sp>
        <p:nvSpPr>
          <p:cNvPr id="7" name="concurrency_decision-shape-6">
            <a:extLst>
              <a:ext uri="{FF2B5EF4-FFF2-40B4-BE49-F238E27FC236}">
                <a16:creationId xmlns:a16="http://schemas.microsoft.com/office/drawing/2014/main" id="{592A1129-55AA-49C4-B94F-F3709164A0F4}"/>
              </a:ext>
            </a:extLst>
          </p:cNvPr>
          <p:cNvSpPr>
            <a:spLocks noGrp="1"/>
          </p:cNvSpPr>
          <p:nvPr/>
        </p:nvSpPr>
        <p:spPr>
          <a:xfrm>
            <a:off x="6096000" y="3556000"/>
            <a:ext cx="4064000" cy="76200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concurrency_decision-text-7">
            <a:extLst>
              <a:ext uri="{FF2B5EF4-FFF2-40B4-BE49-F238E27FC236}">
                <a16:creationId xmlns:a16="http://schemas.microsoft.com/office/drawing/2014/main" id="{DDF4EA90-3B0C-45FF-9247-02D88C5442D1}"/>
              </a:ext>
            </a:extLst>
          </p:cNvPr>
          <p:cNvSpPr>
            <a:spLocks noGrp="1"/>
          </p:cNvSpPr>
          <p:nvPr/>
        </p:nvSpPr>
        <p:spPr>
          <a:xfrm>
            <a:off x="6096000" y="3746500"/>
            <a:ext cx="406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警示受理時的換色進度</a:t>
            </a:r>
            <a:endParaRPr sz="2000"/>
          </a:p>
        </p:txBody>
      </p:sp>
      <p:sp>
        <p:nvSpPr>
          <p:cNvPr id="9" name="concurrency_decision-shape-8">
            <a:extLst>
              <a:ext uri="{FF2B5EF4-FFF2-40B4-BE49-F238E27FC236}">
                <a16:creationId xmlns:a16="http://schemas.microsoft.com/office/drawing/2014/main" id="{3C229F2F-7D11-4F4D-8A39-DBBC7ECD2E2B}"/>
              </a:ext>
            </a:extLst>
          </p:cNvPr>
          <p:cNvSpPr>
            <a:spLocks noGrp="1"/>
          </p:cNvSpPr>
          <p:nvPr/>
        </p:nvSpPr>
        <p:spPr>
          <a:xfrm>
            <a:off x="8128000" y="4318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concurrency_decision-shape-9">
            <a:extLst>
              <a:ext uri="{FF2B5EF4-FFF2-40B4-BE49-F238E27FC236}">
                <a16:creationId xmlns:a16="http://schemas.microsoft.com/office/drawing/2014/main" id="{AB750C38-5CA3-4677-AE98-97A332A37075}"/>
              </a:ext>
            </a:extLst>
          </p:cNvPr>
          <p:cNvSpPr>
            <a:spLocks noGrp="1"/>
          </p:cNvSpPr>
          <p:nvPr/>
        </p:nvSpPr>
        <p:spPr>
          <a:xfrm>
            <a:off x="3048000" y="4826000"/>
            <a:ext cx="10160000" cy="9144"/>
          </a:xfrm>
          <a:prstGeom prst="line">
            <a:avLst/>
          </a:prstGeom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oncurrency_decision-shape-10">
            <a:extLst>
              <a:ext uri="{FF2B5EF4-FFF2-40B4-BE49-F238E27FC236}">
                <a16:creationId xmlns:a16="http://schemas.microsoft.com/office/drawing/2014/main" id="{8E655EB6-492C-422C-B396-AF4E89411555}"/>
              </a:ext>
            </a:extLst>
          </p:cNvPr>
          <p:cNvSpPr>
            <a:spLocks noGrp="1"/>
          </p:cNvSpPr>
          <p:nvPr/>
        </p:nvSpPr>
        <p:spPr>
          <a:xfrm>
            <a:off x="3048000" y="482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concurrency_decision-shape-11">
            <a:extLst>
              <a:ext uri="{FF2B5EF4-FFF2-40B4-BE49-F238E27FC236}">
                <a16:creationId xmlns:a16="http://schemas.microsoft.com/office/drawing/2014/main" id="{F9FCBC2B-52D8-4D19-B524-8EBC22C8B04F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concurrency_decision-text-12">
            <a:extLst>
              <a:ext uri="{FF2B5EF4-FFF2-40B4-BE49-F238E27FC236}">
                <a16:creationId xmlns:a16="http://schemas.microsoft.com/office/drawing/2014/main" id="{4B1D2D3A-2595-4A1A-A8B6-1836550F3116}"/>
              </a:ext>
            </a:extLst>
          </p:cNvPr>
          <p:cNvSpPr>
            <a:spLocks noGrp="1"/>
          </p:cNvSpPr>
          <p:nvPr/>
        </p:nvSpPr>
        <p:spPr>
          <a:xfrm>
            <a:off x="1524000" y="5524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A. 換色已完成</a:t>
            </a:r>
            <a:endParaRPr sz="2000"/>
          </a:p>
        </p:txBody>
      </p:sp>
      <p:sp>
        <p:nvSpPr>
          <p:cNvPr id="14" name="concurrency_decision-shape-13">
            <a:extLst>
              <a:ext uri="{FF2B5EF4-FFF2-40B4-BE49-F238E27FC236}">
                <a16:creationId xmlns:a16="http://schemas.microsoft.com/office/drawing/2014/main" id="{C462D3CD-535C-4368-A993-A92554A19563}"/>
              </a:ext>
            </a:extLst>
          </p:cNvPr>
          <p:cNvSpPr>
            <a:spLocks noGrp="1"/>
          </p:cNvSpPr>
          <p:nvPr/>
        </p:nvSpPr>
        <p:spPr>
          <a:xfrm>
            <a:off x="3048000" y="609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concurrency_decision-text-14">
            <a:extLst>
              <a:ext uri="{FF2B5EF4-FFF2-40B4-BE49-F238E27FC236}">
                <a16:creationId xmlns:a16="http://schemas.microsoft.com/office/drawing/2014/main" id="{694ADA6D-BE28-4683-B05F-C3343EB10F31}"/>
              </a:ext>
            </a:extLst>
          </p:cNvPr>
          <p:cNvSpPr>
            <a:spLocks noGrp="1"/>
          </p:cNvSpPr>
          <p:nvPr/>
        </p:nvSpPr>
        <p:spPr>
          <a:xfrm>
            <a:off x="1524000" y="6731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3000"/>
              </a:lnSpc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保存新色</a:t>
            </a:r>
            <a:endParaRPr sz="2000"/>
          </a:p>
          <a:p>
            <a:pPr marL="0" indent="0" algn="ctr">
              <a:lnSpc>
                <a:spcPts val="3000"/>
              </a:lnSpc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警示後恢復新色</a:t>
            </a:r>
            <a:endParaRPr sz="2000"/>
          </a:p>
        </p:txBody>
      </p:sp>
      <p:sp>
        <p:nvSpPr>
          <p:cNvPr id="16" name="concurrency_decision-shape-15">
            <a:extLst>
              <a:ext uri="{FF2B5EF4-FFF2-40B4-BE49-F238E27FC236}">
                <a16:creationId xmlns:a16="http://schemas.microsoft.com/office/drawing/2014/main" id="{D1ED8949-6C7B-469A-8584-583ACA70CFDA}"/>
              </a:ext>
            </a:extLst>
          </p:cNvPr>
          <p:cNvSpPr>
            <a:spLocks noGrp="1"/>
          </p:cNvSpPr>
          <p:nvPr/>
        </p:nvSpPr>
        <p:spPr>
          <a:xfrm>
            <a:off x="8128000" y="482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concurrency_decision-shape-16">
            <a:extLst>
              <a:ext uri="{FF2B5EF4-FFF2-40B4-BE49-F238E27FC236}">
                <a16:creationId xmlns:a16="http://schemas.microsoft.com/office/drawing/2014/main" id="{17774DCC-0378-4543-9218-334EED03BAE8}"/>
              </a:ext>
            </a:extLst>
          </p:cNvPr>
          <p:cNvSpPr>
            <a:spLocks noGrp="1"/>
          </p:cNvSpPr>
          <p:nvPr/>
        </p:nvSpPr>
        <p:spPr>
          <a:xfrm>
            <a:off x="6604000" y="5334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concurrency_decision-text-17">
            <a:extLst>
              <a:ext uri="{FF2B5EF4-FFF2-40B4-BE49-F238E27FC236}">
                <a16:creationId xmlns:a16="http://schemas.microsoft.com/office/drawing/2014/main" id="{6DD6ADE9-854A-4DFB-954A-297ED263FF91}"/>
              </a:ext>
            </a:extLst>
          </p:cNvPr>
          <p:cNvSpPr>
            <a:spLocks noGrp="1"/>
          </p:cNvSpPr>
          <p:nvPr/>
        </p:nvSpPr>
        <p:spPr>
          <a:xfrm>
            <a:off x="6604000" y="5524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B. 換色仍在排隊</a:t>
            </a:r>
            <a:endParaRPr sz="2000"/>
          </a:p>
        </p:txBody>
      </p:sp>
      <p:sp>
        <p:nvSpPr>
          <p:cNvPr id="19" name="concurrency_decision-shape-18">
            <a:extLst>
              <a:ext uri="{FF2B5EF4-FFF2-40B4-BE49-F238E27FC236}">
                <a16:creationId xmlns:a16="http://schemas.microsoft.com/office/drawing/2014/main" id="{15C3B1EE-C215-46E2-9AC3-50FC9DF18A28}"/>
              </a:ext>
            </a:extLst>
          </p:cNvPr>
          <p:cNvSpPr>
            <a:spLocks noGrp="1"/>
          </p:cNvSpPr>
          <p:nvPr/>
        </p:nvSpPr>
        <p:spPr>
          <a:xfrm>
            <a:off x="8128000" y="6096000"/>
            <a:ext cx="9144" cy="508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concurrency_decision-text-19">
            <a:extLst>
              <a:ext uri="{FF2B5EF4-FFF2-40B4-BE49-F238E27FC236}">
                <a16:creationId xmlns:a16="http://schemas.microsoft.com/office/drawing/2014/main" id="{7482CEFE-E421-48B2-89D1-EFF301E1C7DD}"/>
              </a:ext>
            </a:extLst>
          </p:cNvPr>
          <p:cNvSpPr>
            <a:spLocks noGrp="1"/>
          </p:cNvSpPr>
          <p:nvPr/>
        </p:nvSpPr>
        <p:spPr>
          <a:xfrm>
            <a:off x="6604000" y="6731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3000"/>
              </a:lnSpc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收據改為 rejected</a:t>
            </a:r>
            <a:endParaRPr sz="2000"/>
          </a:p>
          <a:p>
            <a:pPr marL="0" indent="0" algn="ctr">
              <a:lnSpc>
                <a:spcPts val="3000"/>
              </a:lnSpc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保留原色，不補做</a:t>
            </a:r>
            <a:endParaRPr sz="2000"/>
          </a:p>
        </p:txBody>
      </p:sp>
      <p:sp>
        <p:nvSpPr>
          <p:cNvPr id="21" name="concurrency_decision-shape-20">
            <a:extLst>
              <a:ext uri="{FF2B5EF4-FFF2-40B4-BE49-F238E27FC236}">
                <a16:creationId xmlns:a16="http://schemas.microsoft.com/office/drawing/2014/main" id="{99546EF8-3F2B-4F4B-9E16-0138E3200359}"/>
              </a:ext>
            </a:extLst>
          </p:cNvPr>
          <p:cNvSpPr>
            <a:spLocks noGrp="1"/>
          </p:cNvSpPr>
          <p:nvPr/>
        </p:nvSpPr>
        <p:spPr>
          <a:xfrm>
            <a:off x="13208000" y="4826000"/>
            <a:ext cx="9144" cy="508000"/>
          </a:xfrm>
          <a:prstGeom prst="line">
            <a:avLst/>
          </a:prstGeom>
          <a:ln w="25400">
            <a:solidFill>
              <a:srgbClr val="00897B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concurrency_decision-shape-21">
            <a:extLst>
              <a:ext uri="{FF2B5EF4-FFF2-40B4-BE49-F238E27FC236}">
                <a16:creationId xmlns:a16="http://schemas.microsoft.com/office/drawing/2014/main" id="{E12FFB90-6C25-40CD-9BCA-EFEEE4897C10}"/>
              </a:ext>
            </a:extLst>
          </p:cNvPr>
          <p:cNvSpPr>
            <a:spLocks noGrp="1"/>
          </p:cNvSpPr>
          <p:nvPr/>
        </p:nvSpPr>
        <p:spPr>
          <a:xfrm>
            <a:off x="11684000" y="5334000"/>
            <a:ext cx="30480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concurrency_decision-text-22">
            <a:extLst>
              <a:ext uri="{FF2B5EF4-FFF2-40B4-BE49-F238E27FC236}">
                <a16:creationId xmlns:a16="http://schemas.microsoft.com/office/drawing/2014/main" id="{E8972E4F-CD99-44B0-85D2-F17564A5842E}"/>
              </a:ext>
            </a:extLst>
          </p:cNvPr>
          <p:cNvSpPr>
            <a:spLocks noGrp="1"/>
          </p:cNvSpPr>
          <p:nvPr/>
        </p:nvSpPr>
        <p:spPr>
          <a:xfrm>
            <a:off x="11684000" y="552450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C. 警示先受理</a:t>
            </a:r>
            <a:endParaRPr sz="2000"/>
          </a:p>
        </p:txBody>
      </p:sp>
      <p:sp>
        <p:nvSpPr>
          <p:cNvPr id="24" name="concurrency_decision-shape-23">
            <a:extLst>
              <a:ext uri="{FF2B5EF4-FFF2-40B4-BE49-F238E27FC236}">
                <a16:creationId xmlns:a16="http://schemas.microsoft.com/office/drawing/2014/main" id="{5B1CB94F-7E81-4555-930C-622ACE08EDDE}"/>
              </a:ext>
            </a:extLst>
          </p:cNvPr>
          <p:cNvSpPr>
            <a:spLocks noGrp="1"/>
          </p:cNvSpPr>
          <p:nvPr/>
        </p:nvSpPr>
        <p:spPr>
          <a:xfrm>
            <a:off x="13208000" y="6096000"/>
            <a:ext cx="9144" cy="508000"/>
          </a:xfrm>
          <a:prstGeom prst="line">
            <a:avLst/>
          </a:prstGeom>
          <a:ln w="25400">
            <a:solidFill>
              <a:srgbClr val="FF8F0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concurrency_decision-text-24">
            <a:extLst>
              <a:ext uri="{FF2B5EF4-FFF2-40B4-BE49-F238E27FC236}">
                <a16:creationId xmlns:a16="http://schemas.microsoft.com/office/drawing/2014/main" id="{403AD027-E000-4458-B344-3A45B96A41D4}"/>
              </a:ext>
            </a:extLst>
          </p:cNvPr>
          <p:cNvSpPr>
            <a:spLocks noGrp="1"/>
          </p:cNvSpPr>
          <p:nvPr/>
        </p:nvSpPr>
        <p:spPr>
          <a:xfrm>
            <a:off x="11684000" y="6731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3000"/>
              </a:lnSpc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後來的換色被拒絕</a:t>
            </a:r>
            <a:endParaRPr sz="2000"/>
          </a:p>
          <a:p>
            <a:pPr marL="0" indent="0" algn="ctr">
              <a:lnSpc>
                <a:spcPts val="3000"/>
              </a:lnSpc>
              <a:buNone/>
              <a:def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1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保留原色，不排隊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51470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tton_during_alert-shape-1">
            <a:extLst>
              <a:ext uri="{FF2B5EF4-FFF2-40B4-BE49-F238E27FC236}">
                <a16:creationId xmlns:a16="http://schemas.microsoft.com/office/drawing/2014/main" id="{F6EDFC60-B536-4726-81CD-9A46503BD7C9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button_during_alert-text-2">
            <a:extLst>
              <a:ext uri="{FF2B5EF4-FFF2-40B4-BE49-F238E27FC236}">
                <a16:creationId xmlns:a16="http://schemas.microsoft.com/office/drawing/2014/main" id="{ACBD1381-0F69-46A1-A661-52140909DA49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案例四</a:t>
            </a:r>
            <a:endParaRPr sz="1400"/>
          </a:p>
        </p:txBody>
      </p:sp>
      <p:sp>
        <p:nvSpPr>
          <p:cNvPr id="4" name="button_during_alert-text-3">
            <a:extLst>
              <a:ext uri="{FF2B5EF4-FFF2-40B4-BE49-F238E27FC236}">
                <a16:creationId xmlns:a16="http://schemas.microsoft.com/office/drawing/2014/main" id="{616A5155-14CD-48DE-B61D-365300C67322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10</a:t>
            </a:r>
            <a:endParaRPr sz="1400"/>
          </a:p>
        </p:txBody>
      </p:sp>
      <p:sp>
        <p:nvSpPr>
          <p:cNvPr id="5" name="button_during_alert-text-4">
            <a:extLst>
              <a:ext uri="{FF2B5EF4-FFF2-40B4-BE49-F238E27FC236}">
                <a16:creationId xmlns:a16="http://schemas.microsoft.com/office/drawing/2014/main" id="{15AB0FE2-9E00-4B28-9EA9-9216CC7501CC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警示中按住，結束後不補做</a:t>
            </a:r>
            <a:endParaRPr sz="3200"/>
          </a:p>
        </p:txBody>
      </p:sp>
      <p:graphicFrame>
        <p:nvGraphicFramePr>
          <p:cNvPr id="32" name="button_during_alert-table-5">
            <a:extLst>
              <a:ext uri="{FF2B5EF4-FFF2-40B4-BE49-F238E27FC236}">
                <a16:creationId xmlns:a16="http://schemas.microsoft.com/office/drawing/2014/main" id="{9FDF6D66-2BE7-4933-901B-59188870265E}"/>
              </a:ext>
            </a:extLst>
          </p:cNvPr>
          <p:cNvGraphicFramePr/>
          <p:nvPr/>
        </p:nvGraphicFramePr>
        <p:xfrm>
          <a:off x="1016000" y="3048000"/>
          <a:ext cx="11379200" cy="3048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階段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按鈕動作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busy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結果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0" cmpd="sng">
                      <a:noFill/>
                    </a:lnT>
                    <a:lnB w="25400" cmpd="sng">
                      <a:solidFill>
                        <a:srgbClr val="1A237E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警示中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按下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true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記住已拒絕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25400" cmpd="sng">
                      <a:solidFill>
                        <a:srgbClr val="1A237E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警示恢復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仍按住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false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不送出命令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放開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釋放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false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仍不換色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12700" cmpd="sng">
                      <a:solidFill>
                        <a:srgbClr val="CFD8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重新按下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0" cmpd="sng">
                      <a:noFill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新按壓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false</a:t>
                      </a:r>
                      <a:endParaRPr sz="1800">
                        <a:latin typeface="Roboto Mono"/>
                        <a:ea typeface="Roboto Mono"/>
                        <a:cs typeface="Roboto Mono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2100" b="0">
                          <a:solidFill>
                            <a:srgbClr val="26343E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送出 cycle</a:t>
                      </a:r>
                      <a:endParaRPr sz="2000">
                        <a:latin typeface="Noto Sans TC"/>
                        <a:ea typeface="Noto Sans TC"/>
                        <a:cs typeface="Noto Sans TC"/>
                      </a:endParaRPr>
                    </a:p>
                  </a:txBody>
                  <a:tcPr marL="54864" marR="54864" marT="0" marB="0" anchor="ctr">
                    <a:lnL w="12700" cmpd="sng">
                      <a:solidFill>
                        <a:srgbClr val="CFD8DC"/>
                      </a:solidFill>
                      <a:prstDash val="solid"/>
                    </a:lnL>
                    <a:lnR w="12700" cmpd="sng">
                      <a:solidFill>
                        <a:srgbClr val="CFD8DC"/>
                      </a:solidFill>
                      <a:prstDash val="solid"/>
                    </a:lnR>
                    <a:lnT w="12700" cmpd="sng">
                      <a:solidFill>
                        <a:srgbClr val="CFD8DC"/>
                      </a:solidFill>
                      <a:prstDash val="solid"/>
                    </a:lnT>
                    <a:lnB w="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button_during_alert-shape-6">
            <a:extLst>
              <a:ext uri="{FF2B5EF4-FFF2-40B4-BE49-F238E27FC236}">
                <a16:creationId xmlns:a16="http://schemas.microsoft.com/office/drawing/2014/main" id="{F48A50FA-ABB8-4D67-8C0C-F2F2235C6013}"/>
              </a:ext>
            </a:extLst>
          </p:cNvPr>
          <p:cNvSpPr>
            <a:spLocks noGrp="1"/>
          </p:cNvSpPr>
          <p:nvPr/>
        </p:nvSpPr>
        <p:spPr>
          <a:xfrm>
            <a:off x="1016000" y="6604000"/>
            <a:ext cx="14224000" cy="1270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button_during_alert-text-7">
            <a:extLst>
              <a:ext uri="{FF2B5EF4-FFF2-40B4-BE49-F238E27FC236}">
                <a16:creationId xmlns:a16="http://schemas.microsoft.com/office/drawing/2014/main" id="{613FC2EA-8B93-4E2F-B9B4-4D7CF864667A}"/>
              </a:ext>
            </a:extLst>
          </p:cNvPr>
          <p:cNvSpPr>
            <a:spLocks noGrp="1"/>
          </p:cNvSpPr>
          <p:nvPr/>
        </p:nvSpPr>
        <p:spPr>
          <a:xfrm>
            <a:off x="1270000" y="6858000"/>
            <a:ext cx="13716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3000"/>
              </a:lnSpc>
              <a:buNone/>
              <a:def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175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press_rejected 記住這次按壓，放開重按才算新操作。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23973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sy_vs_armed-shape-1">
            <a:extLst>
              <a:ext uri="{FF2B5EF4-FFF2-40B4-BE49-F238E27FC236}">
                <a16:creationId xmlns:a16="http://schemas.microsoft.com/office/drawing/2014/main" id="{6558C4EF-1826-403B-8DDD-B0BA0B70AAB2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busy_vs_armed-text-2">
            <a:extLst>
              <a:ext uri="{FF2B5EF4-FFF2-40B4-BE49-F238E27FC236}">
                <a16:creationId xmlns:a16="http://schemas.microsoft.com/office/drawing/2014/main" id="{62C62E29-794D-4EE4-B7F3-8F6B55D30588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再次觸發</a:t>
            </a:r>
            <a:endParaRPr sz="1400"/>
          </a:p>
        </p:txBody>
      </p:sp>
      <p:sp>
        <p:nvSpPr>
          <p:cNvPr id="4" name="busy_vs_armed-text-3">
            <a:extLst>
              <a:ext uri="{FF2B5EF4-FFF2-40B4-BE49-F238E27FC236}">
                <a16:creationId xmlns:a16="http://schemas.microsoft.com/office/drawing/2014/main" id="{B3E9F22C-1CDF-41FC-9E5A-EA7A3A9819C1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11</a:t>
            </a:r>
            <a:endParaRPr sz="1400"/>
          </a:p>
        </p:txBody>
      </p:sp>
      <p:sp>
        <p:nvSpPr>
          <p:cNvPr id="5" name="busy_vs_armed-text-4">
            <a:extLst>
              <a:ext uri="{FF2B5EF4-FFF2-40B4-BE49-F238E27FC236}">
                <a16:creationId xmlns:a16="http://schemas.microsoft.com/office/drawing/2014/main" id="{FDCD6265-5E74-4313-995F-6556F0C76154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busy 與 armed 各管一件事</a:t>
            </a:r>
            <a:endParaRPr sz="3200"/>
          </a:p>
        </p:txBody>
      </p:sp>
      <p:sp>
        <p:nvSpPr>
          <p:cNvPr id="6" name="busy_vs_armed-shape-5">
            <a:extLst>
              <a:ext uri="{FF2B5EF4-FFF2-40B4-BE49-F238E27FC236}">
                <a16:creationId xmlns:a16="http://schemas.microsoft.com/office/drawing/2014/main" id="{ED087856-4ED7-452A-80C6-86A516372716}"/>
              </a:ext>
            </a:extLst>
          </p:cNvPr>
          <p:cNvSpPr>
            <a:spLocks noGrp="1"/>
          </p:cNvSpPr>
          <p:nvPr/>
        </p:nvSpPr>
        <p:spPr>
          <a:xfrm>
            <a:off x="1524000" y="3048000"/>
            <a:ext cx="5842000" cy="3048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busy_vs_armed-text-6">
            <a:extLst>
              <a:ext uri="{FF2B5EF4-FFF2-40B4-BE49-F238E27FC236}">
                <a16:creationId xmlns:a16="http://schemas.microsoft.com/office/drawing/2014/main" id="{2294098E-B276-4AF5-940F-4F51DFFDF306}"/>
              </a:ext>
            </a:extLst>
          </p:cNvPr>
          <p:cNvSpPr>
            <a:spLocks noGrp="1"/>
          </p:cNvSpPr>
          <p:nvPr/>
        </p:nvSpPr>
        <p:spPr>
          <a:xfrm>
            <a:off x="2032000" y="3556000"/>
            <a:ext cx="4826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lnSpc>
                <a:spcPts val="3000"/>
              </a:lnSpc>
              <a:buNone/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pPr>
            <a:r>
              <a:rPr sz="2475" b="1">
                <a:solidFill>
                  <a:srgbClr val="008F86"/>
                </a:solidFill>
                <a:latin typeface="Noto Sans TC"/>
                <a:ea typeface="Noto Sans TC"/>
                <a:cs typeface="Noto Sans TC"/>
              </a:rPr>
              <a:t>busy：LED 能否操作</a:t>
            </a:r>
            <a:endParaRPr sz="2000"/>
          </a:p>
          <a:p>
            <a:pPr marL="0" indent="0" algn="l">
              <a:lnSpc>
                <a:spcPts val="3000"/>
              </a:lnSpc>
              <a:buNone/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pPr>
            <a:r>
              <a: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rPr>
              <a:t>警示受理時成立</a:t>
            </a:r>
            <a:endParaRPr sz="2000"/>
          </a:p>
          <a:p>
            <a:pPr marL="0" indent="0" algn="l">
              <a:lnSpc>
                <a:spcPts val="3000"/>
              </a:lnSpc>
              <a:buNone/>
              <a:def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defRPr>
            </a:pPr>
            <a:r>
              <a:rPr sz="2475">
                <a:solidFill>
                  <a:srgbClr val="008F86"/>
                </a:solidFill>
                <a:latin typeface="Noto Sans TC"/>
                <a:ea typeface="Noto Sans TC"/>
                <a:cs typeface="Noto Sans TC"/>
              </a:rPr>
              <a:t>恢復後解除</a:t>
            </a:r>
            <a:endParaRPr sz="2000"/>
          </a:p>
        </p:txBody>
      </p:sp>
      <p:sp>
        <p:nvSpPr>
          <p:cNvPr id="8" name="busy_vs_armed-shape-7">
            <a:extLst>
              <a:ext uri="{FF2B5EF4-FFF2-40B4-BE49-F238E27FC236}">
                <a16:creationId xmlns:a16="http://schemas.microsoft.com/office/drawing/2014/main" id="{7435722C-30D9-4C2D-AF98-5622CF682010}"/>
              </a:ext>
            </a:extLst>
          </p:cNvPr>
          <p:cNvSpPr>
            <a:spLocks noGrp="1"/>
          </p:cNvSpPr>
          <p:nvPr/>
        </p:nvSpPr>
        <p:spPr>
          <a:xfrm>
            <a:off x="8890000" y="3048000"/>
            <a:ext cx="5842000" cy="30480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busy_vs_armed-text-8">
            <a:extLst>
              <a:ext uri="{FF2B5EF4-FFF2-40B4-BE49-F238E27FC236}">
                <a16:creationId xmlns:a16="http://schemas.microsoft.com/office/drawing/2014/main" id="{59C2ADE9-4DA3-4A53-B51F-1AF3608059FE}"/>
              </a:ext>
            </a:extLst>
          </p:cNvPr>
          <p:cNvSpPr>
            <a:spLocks noGrp="1"/>
          </p:cNvSpPr>
          <p:nvPr/>
        </p:nvSpPr>
        <p:spPr>
          <a:xfrm>
            <a:off x="9398000" y="3556000"/>
            <a:ext cx="4826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lnSpc>
                <a:spcPts val="3000"/>
              </a:lnSpc>
              <a:buNone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armed：光照能否再觸發</a:t>
            </a:r>
            <a:endParaRPr sz="2000"/>
          </a:p>
          <a:p>
            <a:pPr marL="0" indent="0" algn="l">
              <a:lnSpc>
                <a:spcPts val="3000"/>
              </a:lnSpc>
              <a:buNone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受理後設為 false</a:t>
            </a:r>
            <a:endParaRPr sz="2000"/>
          </a:p>
          <a:p>
            <a:pPr marL="0" indent="0" algn="l">
              <a:lnSpc>
                <a:spcPts val="3000"/>
              </a:lnSpc>
              <a:buNone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回亮至 ADC ≥ 1100 才重設</a:t>
            </a:r>
            <a:endParaRPr sz="2000"/>
          </a:p>
        </p:txBody>
      </p:sp>
      <p:sp>
        <p:nvSpPr>
          <p:cNvPr id="10" name="busy_vs_armed-text-9">
            <a:extLst>
              <a:ext uri="{FF2B5EF4-FFF2-40B4-BE49-F238E27FC236}">
                <a16:creationId xmlns:a16="http://schemas.microsoft.com/office/drawing/2014/main" id="{55A6EEEC-2253-4780-A740-7FC3C90A9F64}"/>
              </a:ext>
            </a:extLst>
          </p:cNvPr>
          <p:cNvSpPr>
            <a:spLocks noGrp="1"/>
          </p:cNvSpPr>
          <p:nvPr/>
        </p:nvSpPr>
        <p:spPr>
          <a:xfrm>
            <a:off x="1016000" y="6858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持續昏暗時，警示結束也不會一直重播。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77533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ast_slow_channels-shape-1">
            <a:extLst>
              <a:ext uri="{FF2B5EF4-FFF2-40B4-BE49-F238E27FC236}">
                <a16:creationId xmlns:a16="http://schemas.microsoft.com/office/drawing/2014/main" id="{90875AB9-BFAD-4F7B-A008-64CB65B60243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fast_slow_channels-text-2">
            <a:extLst>
              <a:ext uri="{FF2B5EF4-FFF2-40B4-BE49-F238E27FC236}">
                <a16:creationId xmlns:a16="http://schemas.microsoft.com/office/drawing/2014/main" id="{EBBA2585-E506-40CF-B364-752A2A7FEE12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網頁控制</a:t>
            </a:r>
            <a:endParaRPr sz="1400"/>
          </a:p>
        </p:txBody>
      </p:sp>
      <p:sp>
        <p:nvSpPr>
          <p:cNvPr id="4" name="fast_slow_channels-text-3">
            <a:extLst>
              <a:ext uri="{FF2B5EF4-FFF2-40B4-BE49-F238E27FC236}">
                <a16:creationId xmlns:a16="http://schemas.microsoft.com/office/drawing/2014/main" id="{20F63A76-75E7-438D-9419-5C0A1F62BE3B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12</a:t>
            </a:r>
            <a:endParaRPr sz="1400"/>
          </a:p>
        </p:txBody>
      </p:sp>
      <p:sp>
        <p:nvSpPr>
          <p:cNvPr id="5" name="fast_slow_channels-text-4">
            <a:extLst>
              <a:ext uri="{FF2B5EF4-FFF2-40B4-BE49-F238E27FC236}">
                <a16:creationId xmlns:a16="http://schemas.microsoft.com/office/drawing/2014/main" id="{2350EDF7-873D-42B5-AAA6-DFA77B649FC2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Web 控制與感測資料分流</a:t>
            </a:r>
            <a:endParaRPr sz="3200"/>
          </a:p>
        </p:txBody>
      </p:sp>
      <p:sp>
        <p:nvSpPr>
          <p:cNvPr id="6" name="fast_slow_channels-text-5">
            <a:extLst>
              <a:ext uri="{FF2B5EF4-FFF2-40B4-BE49-F238E27FC236}">
                <a16:creationId xmlns:a16="http://schemas.microsoft.com/office/drawing/2014/main" id="{3B13C0FF-2B31-4B1B-853B-A28D6D71EB7E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LED 的操作提示，需要獨立取得新狀態。</a:t>
            </a:r>
            <a:endParaRPr sz="2000"/>
          </a:p>
        </p:txBody>
      </p:sp>
      <p:sp>
        <p:nvSpPr>
          <p:cNvPr id="7" name="fast_slow_channels-shape-6">
            <a:extLst>
              <a:ext uri="{FF2B5EF4-FFF2-40B4-BE49-F238E27FC236}">
                <a16:creationId xmlns:a16="http://schemas.microsoft.com/office/drawing/2014/main" id="{F2CE33EC-832A-404E-B8E6-0EAEC05129D3}"/>
              </a:ext>
            </a:extLst>
          </p:cNvPr>
          <p:cNvSpPr>
            <a:spLocks noGrp="1"/>
          </p:cNvSpPr>
          <p:nvPr/>
        </p:nvSpPr>
        <p:spPr>
          <a:xfrm>
            <a:off x="101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ast_slow_channels-text-7">
            <a:extLst>
              <a:ext uri="{FF2B5EF4-FFF2-40B4-BE49-F238E27FC236}">
                <a16:creationId xmlns:a16="http://schemas.microsoft.com/office/drawing/2014/main" id="{33FBCFFE-CD7B-406B-9BB3-496CE7882AFD}"/>
              </a:ext>
            </a:extLst>
          </p:cNvPr>
          <p:cNvSpPr>
            <a:spLocks noGrp="1"/>
          </p:cNvSpPr>
          <p:nvPr/>
        </p:nvSpPr>
        <p:spPr>
          <a:xfrm>
            <a:off x="1524000" y="3810000"/>
            <a:ext cx="5588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LED 控制狀態</a:t>
            </a:r>
            <a:endParaRPr sz="2400"/>
          </a:p>
        </p:txBody>
      </p:sp>
      <p:sp>
        <p:nvSpPr>
          <p:cNvPr id="9" name="fast_slow_channels-text-8">
            <a:extLst>
              <a:ext uri="{FF2B5EF4-FFF2-40B4-BE49-F238E27FC236}">
                <a16:creationId xmlns:a16="http://schemas.microsoft.com/office/drawing/2014/main" id="{83C22B31-24BF-4230-B653-EC47E254BB43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5588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/api/led/status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讀取 owner 的 RAM 快照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完成後等 200 ms 再查</a:t>
            </a:r>
            <a:endParaRPr sz="2000"/>
          </a:p>
        </p:txBody>
      </p:sp>
      <p:sp>
        <p:nvSpPr>
          <p:cNvPr id="10" name="fast_slow_channels-shape-9">
            <a:extLst>
              <a:ext uri="{FF2B5EF4-FFF2-40B4-BE49-F238E27FC236}">
                <a16:creationId xmlns:a16="http://schemas.microsoft.com/office/drawing/2014/main" id="{782F661E-0F58-4F36-97C5-F3AFB95310A6}"/>
              </a:ext>
            </a:extLst>
          </p:cNvPr>
          <p:cNvSpPr>
            <a:spLocks noGrp="1"/>
          </p:cNvSpPr>
          <p:nvPr/>
        </p:nvSpPr>
        <p:spPr>
          <a:xfrm>
            <a:off x="863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ast_slow_channels-text-10">
            <a:extLst>
              <a:ext uri="{FF2B5EF4-FFF2-40B4-BE49-F238E27FC236}">
                <a16:creationId xmlns:a16="http://schemas.microsoft.com/office/drawing/2014/main" id="{0392CD8C-925E-460F-85D6-B8ADD90CC7F6}"/>
              </a:ext>
            </a:extLst>
          </p:cNvPr>
          <p:cNvSpPr>
            <a:spLocks noGrp="1"/>
          </p:cNvSpPr>
          <p:nvPr/>
        </p:nvSpPr>
        <p:spPr>
          <a:xfrm>
            <a:off x="9144000" y="3810000"/>
            <a:ext cx="5588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一般感測資料</a:t>
            </a:r>
            <a:endParaRPr sz="2400"/>
          </a:p>
        </p:txBody>
      </p:sp>
      <p:sp>
        <p:nvSpPr>
          <p:cNvPr id="12" name="fast_slow_channels-text-11">
            <a:extLst>
              <a:ext uri="{FF2B5EF4-FFF2-40B4-BE49-F238E27FC236}">
                <a16:creationId xmlns:a16="http://schemas.microsoft.com/office/drawing/2014/main" id="{A94489CF-B420-4290-B6D4-7CB90E3D440C}"/>
              </a:ext>
            </a:extLst>
          </p:cNvPr>
          <p:cNvSpPr>
            <a:spLocks noGrp="1"/>
          </p:cNvSpPr>
          <p:nvPr/>
        </p:nvSpPr>
        <p:spPr>
          <a:xfrm>
            <a:off x="9144000" y="4572000"/>
            <a:ext cx="5588000" cy="203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/api/data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完成後等 1000 ms 再查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只更新感測展示</a:t>
            </a:r>
            <a:endParaRPr sz="2000"/>
          </a:p>
        </p:txBody>
      </p:sp>
      <p:sp>
        <p:nvSpPr>
          <p:cNvPr id="13" name="fast_slow_channels-text-12">
            <a:extLst>
              <a:ext uri="{FF2B5EF4-FFF2-40B4-BE49-F238E27FC236}">
                <a16:creationId xmlns:a16="http://schemas.microsoft.com/office/drawing/2014/main" id="{F3A32E16-80B5-4B8A-857B-8FF0F439EEAD}"/>
              </a:ext>
            </a:extLst>
          </p:cNvPr>
          <p:cNvSpPr>
            <a:spLocks noGrp="1"/>
          </p:cNvSpPr>
          <p:nvPr/>
        </p:nvSpPr>
        <p:spPr>
          <a:xfrm>
            <a:off x="1016000" y="7366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lnSpc>
                <a:spcPts val="3000"/>
              </a:lnSpc>
              <a:buNone/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各通道一次只送一筆，慢回應不覆寫 LED 提示。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15730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shness_ttl-shape-1">
            <a:extLst>
              <a:ext uri="{FF2B5EF4-FFF2-40B4-BE49-F238E27FC236}">
                <a16:creationId xmlns:a16="http://schemas.microsoft.com/office/drawing/2014/main" id="{2C8F0A71-62AF-4298-B593-58B1FCD1595B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freshness_ttl-text-2">
            <a:extLst>
              <a:ext uri="{FF2B5EF4-FFF2-40B4-BE49-F238E27FC236}">
                <a16:creationId xmlns:a16="http://schemas.microsoft.com/office/drawing/2014/main" id="{78AD6C66-C470-441B-AA00-668A23E43D95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網頁控制</a:t>
            </a:r>
            <a:endParaRPr sz="1400"/>
          </a:p>
        </p:txBody>
      </p:sp>
      <p:sp>
        <p:nvSpPr>
          <p:cNvPr id="4" name="freshness_ttl-text-3">
            <a:extLst>
              <a:ext uri="{FF2B5EF4-FFF2-40B4-BE49-F238E27FC236}">
                <a16:creationId xmlns:a16="http://schemas.microsoft.com/office/drawing/2014/main" id="{7AED4CCC-DE13-48E5-AEFB-91AD9E225C94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13</a:t>
            </a:r>
            <a:endParaRPr sz="1400"/>
          </a:p>
        </p:txBody>
      </p:sp>
      <p:sp>
        <p:nvSpPr>
          <p:cNvPr id="5" name="freshness_ttl-text-4">
            <a:extLst>
              <a:ext uri="{FF2B5EF4-FFF2-40B4-BE49-F238E27FC236}">
                <a16:creationId xmlns:a16="http://schemas.microsoft.com/office/drawing/2014/main" id="{923D9A17-D0F0-47A6-A9AF-F24F5F611873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快照有效期限與後端判斷</a:t>
            </a:r>
            <a:endParaRPr sz="3200"/>
          </a:p>
        </p:txBody>
      </p:sp>
      <p:sp>
        <p:nvSpPr>
          <p:cNvPr id="6" name="freshness_ttl-text-5">
            <a:extLst>
              <a:ext uri="{FF2B5EF4-FFF2-40B4-BE49-F238E27FC236}">
                <a16:creationId xmlns:a16="http://schemas.microsoft.com/office/drawing/2014/main" id="{29423861-6E4E-4AE8-B9AF-09FBDB6ED786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短暫逾時保留提示，操作仍經過後端檢查。</a:t>
            </a:r>
            <a:endParaRPr sz="2000"/>
          </a:p>
        </p:txBody>
      </p:sp>
      <p:sp>
        <p:nvSpPr>
          <p:cNvPr id="7" name="freshness_ttl-shape-6">
            <a:extLst>
              <a:ext uri="{FF2B5EF4-FFF2-40B4-BE49-F238E27FC236}">
                <a16:creationId xmlns:a16="http://schemas.microsoft.com/office/drawing/2014/main" id="{155319BB-5346-4A47-AF3E-E56714308E22}"/>
              </a:ext>
            </a:extLst>
          </p:cNvPr>
          <p:cNvSpPr>
            <a:spLocks noGrp="1"/>
          </p:cNvSpPr>
          <p:nvPr/>
        </p:nvSpPr>
        <p:spPr>
          <a:xfrm>
            <a:off x="101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reshness_ttl-text-7">
            <a:extLst>
              <a:ext uri="{FF2B5EF4-FFF2-40B4-BE49-F238E27FC236}">
                <a16:creationId xmlns:a16="http://schemas.microsoft.com/office/drawing/2014/main" id="{B4B99586-15CD-40F9-BA51-6B91D7361181}"/>
              </a:ext>
            </a:extLst>
          </p:cNvPr>
          <p:cNvSpPr>
            <a:spLocks noGrp="1"/>
          </p:cNvSpPr>
          <p:nvPr/>
        </p:nvSpPr>
        <p:spPr>
          <a:xfrm>
            <a:off x="1524000" y="4064000"/>
            <a:ext cx="5588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lnSpc>
                <a:spcPts val="3000"/>
              </a:lnSpc>
              <a:buNone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網頁快照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5 秒內沿用成功快照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過期才停用控制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逾時後丟棄晚到回應</a:t>
            </a:r>
            <a:endParaRPr sz="2000"/>
          </a:p>
        </p:txBody>
      </p:sp>
      <p:sp>
        <p:nvSpPr>
          <p:cNvPr id="9" name="freshness_ttl-shape-8">
            <a:extLst>
              <a:ext uri="{FF2B5EF4-FFF2-40B4-BE49-F238E27FC236}">
                <a16:creationId xmlns:a16="http://schemas.microsoft.com/office/drawing/2014/main" id="{306A9D80-7FDA-4094-AD32-D6107CD55410}"/>
              </a:ext>
            </a:extLst>
          </p:cNvPr>
          <p:cNvSpPr>
            <a:spLocks noGrp="1"/>
          </p:cNvSpPr>
          <p:nvPr/>
        </p:nvSpPr>
        <p:spPr>
          <a:xfrm>
            <a:off x="8636000" y="3556000"/>
            <a:ext cx="6604000" cy="330200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freshness_ttl-text-9">
            <a:extLst>
              <a:ext uri="{FF2B5EF4-FFF2-40B4-BE49-F238E27FC236}">
                <a16:creationId xmlns:a16="http://schemas.microsoft.com/office/drawing/2014/main" id="{E69BEABE-16DA-4AA2-A0C8-21CCC5DBD8CC}"/>
              </a:ext>
            </a:extLst>
          </p:cNvPr>
          <p:cNvSpPr>
            <a:spLocks noGrp="1"/>
          </p:cNvSpPr>
          <p:nvPr/>
        </p:nvSpPr>
        <p:spPr>
          <a:xfrm>
            <a:off x="9144000" y="4064000"/>
            <a:ext cx="5588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lnSpc>
                <a:spcPts val="3000"/>
              </a:lnSpc>
              <a:buNone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後端判斷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每次 submit() 都檢查 busy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忙碌時回覆 HTTP 409</a:t>
            </a:r>
            <a:endParaRPr sz="2000"/>
          </a:p>
          <a:p>
            <a:pPr marL="317500" indent="-317500" algn="l">
              <a:lnSpc>
                <a:spcPts val="3000"/>
              </a:lnSpc>
              <a:spcBef>
                <a:spcPts val="10"/>
              </a:spcBef>
              <a:buSzPct val="100000"/>
              <a:buChar char="✓"/>
              <a:def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325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中止等待不會取消命令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8641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een_flash_extension-shape-1">
            <a:extLst>
              <a:ext uri="{FF2B5EF4-FFF2-40B4-BE49-F238E27FC236}">
                <a16:creationId xmlns:a16="http://schemas.microsoft.com/office/drawing/2014/main" id="{11638E25-D16A-4485-9532-756AFDF3A6BF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green_flash_extension-text-2">
            <a:extLst>
              <a:ext uri="{FF2B5EF4-FFF2-40B4-BE49-F238E27FC236}">
                <a16:creationId xmlns:a16="http://schemas.microsoft.com/office/drawing/2014/main" id="{6F582337-8202-4F3A-BC7D-711E11079247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擴充方式</a:t>
            </a:r>
            <a:endParaRPr sz="1400"/>
          </a:p>
        </p:txBody>
      </p:sp>
      <p:sp>
        <p:nvSpPr>
          <p:cNvPr id="4" name="green_flash_extension-text-3">
            <a:extLst>
              <a:ext uri="{FF2B5EF4-FFF2-40B4-BE49-F238E27FC236}">
                <a16:creationId xmlns:a16="http://schemas.microsoft.com/office/drawing/2014/main" id="{6730ED01-620D-4179-BA13-92FD29256CB1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14</a:t>
            </a:r>
            <a:endParaRPr sz="1400"/>
          </a:p>
        </p:txBody>
      </p:sp>
      <p:sp>
        <p:nvSpPr>
          <p:cNvPr id="5" name="green_flash_extension-text-4">
            <a:extLst>
              <a:ext uri="{FF2B5EF4-FFF2-40B4-BE49-F238E27FC236}">
                <a16:creationId xmlns:a16="http://schemas.microsoft.com/office/drawing/2014/main" id="{E59F0E86-E795-42E1-B2F3-BBDCCD7700A4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擴充示例：按鈕 3 綠閃三次</a:t>
            </a:r>
            <a:endParaRPr sz="3200"/>
          </a:p>
        </p:txBody>
      </p:sp>
      <p:sp>
        <p:nvSpPr>
          <p:cNvPr id="6" name="green_flash_extension-text-5">
            <a:extLst>
              <a:ext uri="{FF2B5EF4-FFF2-40B4-BE49-F238E27FC236}">
                <a16:creationId xmlns:a16="http://schemas.microsoft.com/office/drawing/2014/main" id="{1746D603-B2BB-4866-8D45-4A70F0089FB4}"/>
              </a:ext>
            </a:extLst>
          </p:cNvPr>
          <p:cNvSpPr>
            <a:spLocks noGrp="1"/>
          </p:cNvSpPr>
          <p:nvPr/>
        </p:nvSpPr>
        <p:spPr>
          <a:xfrm>
            <a:off x="1016000" y="26670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若新增綠閃三次，完成後仍恢復原狀。</a:t>
            </a:r>
            <a:endParaRPr sz="2000"/>
          </a:p>
        </p:txBody>
      </p:sp>
      <p:sp>
        <p:nvSpPr>
          <p:cNvPr id="7" name="green_flash_extension-text-6">
            <a:extLst>
              <a:ext uri="{FF2B5EF4-FFF2-40B4-BE49-F238E27FC236}">
                <a16:creationId xmlns:a16="http://schemas.microsoft.com/office/drawing/2014/main" id="{963CCB20-33EE-44CB-BBF1-2F46A9BA47D7}"/>
              </a:ext>
            </a:extLst>
          </p:cNvPr>
          <p:cNvSpPr>
            <a:spLocks noGrp="1"/>
          </p:cNvSpPr>
          <p:nvPr/>
        </p:nvSpPr>
        <p:spPr>
          <a:xfrm>
            <a:off x="1524000" y="3810000"/>
            <a:ext cx="6191250" cy="285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algn="l"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b="1"/>
              <a:t>新增來源</a:t>
            </a:r>
          </a:p>
          <a:p>
            <a:pPr algn="l"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b="0"/>
              <a:t>按鈕 3 提交綠閃要求</a:t>
            </a:r>
          </a:p>
          <a:p>
            <a:pPr algn="l"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b="0"/>
              <a:t>效果規格：綠色、三次</a:t>
            </a:r>
          </a:p>
        </p:txBody>
      </p:sp>
      <p:sp>
        <p:nvSpPr>
          <p:cNvPr id="17" name="green_flash_extension-text-16">
            <a:extLst>
              <a:ext uri="{FF2B5EF4-FFF2-40B4-BE49-F238E27FC236}">
                <a16:creationId xmlns:a16="http://schemas.microsoft.com/office/drawing/2014/main" id="{EF344A03-7BEF-44C0-917C-5BC4D1BB2EFB}"/>
              </a:ext>
            </a:extLst>
          </p:cNvPr>
          <p:cNvSpPr>
            <a:spLocks noGrp="1"/>
          </p:cNvSpPr>
          <p:nvPr/>
        </p:nvSpPr>
        <p:spPr>
          <a:xfrm>
            <a:off x="9144000" y="3810000"/>
            <a:ext cx="6191250" cy="285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 algn="l"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algn="l"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b="1"/>
              <a:t>沿用 LedService</a:t>
            </a:r>
          </a:p>
          <a:p>
            <a:pPr algn="l"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b="0"/>
              <a:t>同一個 owner 與 busy</a:t>
            </a:r>
          </a:p>
          <a:p>
            <a:pPr algn="l">
              <a:spcAft>
                <a:spcPts val="1800"/>
              </a:spcAft>
              <a:defRPr sz="27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b="0"/>
              <a:t>保存並恢復正常狀態</a:t>
            </a:r>
          </a:p>
        </p:txBody>
      </p:sp>
      <p:sp>
        <p:nvSpPr>
          <p:cNvPr id="18" name="green_flash_extension-text-17">
            <a:extLst>
              <a:ext uri="{FF2B5EF4-FFF2-40B4-BE49-F238E27FC236}">
                <a16:creationId xmlns:a16="http://schemas.microsoft.com/office/drawing/2014/main" id="{3B4E3833-B91A-42CC-B06D-111F7DF5E740}"/>
              </a:ext>
            </a:extLst>
          </p:cNvPr>
          <p:cNvSpPr>
            <a:spLocks noGrp="1"/>
          </p:cNvSpPr>
          <p:nvPr/>
        </p:nvSpPr>
        <p:spPr>
          <a:xfrm>
            <a:off x="1016000" y="7620000"/>
            <a:ext cx="1422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效果先受理先完成，忙碌時拒絕另一效果。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512252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ployment_acceptance-shape-1">
            <a:extLst>
              <a:ext uri="{FF2B5EF4-FFF2-40B4-BE49-F238E27FC236}">
                <a16:creationId xmlns:a16="http://schemas.microsoft.com/office/drawing/2014/main" id="{6CBD1C1F-F0AC-479D-9FF8-FF38F48EBAFC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deployment_acceptance-text-2">
            <a:extLst>
              <a:ext uri="{FF2B5EF4-FFF2-40B4-BE49-F238E27FC236}">
                <a16:creationId xmlns:a16="http://schemas.microsoft.com/office/drawing/2014/main" id="{439B7512-822A-4E52-B8AA-B5E3D4824557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實機確認</a:t>
            </a:r>
            <a:endParaRPr sz="1400"/>
          </a:p>
        </p:txBody>
      </p:sp>
      <p:sp>
        <p:nvSpPr>
          <p:cNvPr id="4" name="deployment_acceptance-text-3">
            <a:extLst>
              <a:ext uri="{FF2B5EF4-FFF2-40B4-BE49-F238E27FC236}">
                <a16:creationId xmlns:a16="http://schemas.microsoft.com/office/drawing/2014/main" id="{A8FD8204-8D49-4F36-BFEE-0671B2D96B32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58717D"/>
                </a:solidFill>
                <a:latin typeface="Noto Sans TC"/>
                <a:ea typeface="Noto Sans TC"/>
                <a:cs typeface="Noto Sans TC"/>
              </a:rPr>
              <a:t>15</a:t>
            </a:r>
            <a:endParaRPr sz="1400"/>
          </a:p>
        </p:txBody>
      </p:sp>
      <p:sp>
        <p:nvSpPr>
          <p:cNvPr id="5" name="deployment_acceptance-text-4">
            <a:extLst>
              <a:ext uri="{FF2B5EF4-FFF2-40B4-BE49-F238E27FC236}">
                <a16:creationId xmlns:a16="http://schemas.microsoft.com/office/drawing/2014/main" id="{D5CCE843-ECBD-4FD4-AFF6-09FFF4688589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315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部署與驗收</a:t>
            </a:r>
            <a:endParaRPr sz="3200"/>
          </a:p>
        </p:txBody>
      </p:sp>
      <p:sp>
        <p:nvSpPr>
          <p:cNvPr id="6" name="deployment_acceptance-shape-5">
            <a:extLst>
              <a:ext uri="{FF2B5EF4-FFF2-40B4-BE49-F238E27FC236}">
                <a16:creationId xmlns:a16="http://schemas.microsoft.com/office/drawing/2014/main" id="{6093DB56-01C6-4FDB-A22A-0EB9D4ECEA93}"/>
              </a:ext>
            </a:extLst>
          </p:cNvPr>
          <p:cNvSpPr>
            <a:spLocks noGrp="1"/>
          </p:cNvSpPr>
          <p:nvPr/>
        </p:nvSpPr>
        <p:spPr>
          <a:xfrm>
            <a:off x="1016000" y="3048000"/>
            <a:ext cx="6858000" cy="45720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deployment_acceptance-text-6">
            <a:extLst>
              <a:ext uri="{FF2B5EF4-FFF2-40B4-BE49-F238E27FC236}">
                <a16:creationId xmlns:a16="http://schemas.microsoft.com/office/drawing/2014/main" id="{4C3FD9EF-4C04-4A01-A635-F7E47156F710}"/>
              </a:ext>
            </a:extLst>
          </p:cNvPr>
          <p:cNvSpPr>
            <a:spLocks noGrp="1"/>
          </p:cNvSpPr>
          <p:nvPr/>
        </p:nvSpPr>
        <p:spPr>
          <a:xfrm>
            <a:off x="1524000" y="3556000"/>
            <a:ext cx="5842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部署步驟</a:t>
            </a:r>
            <a:endParaRPr sz="2400"/>
          </a:p>
        </p:txBody>
      </p:sp>
      <p:sp>
        <p:nvSpPr>
          <p:cNvPr id="8" name="deployment_acceptance-text-7">
            <a:extLst>
              <a:ext uri="{FF2B5EF4-FFF2-40B4-BE49-F238E27FC236}">
                <a16:creationId xmlns:a16="http://schemas.microsoft.com/office/drawing/2014/main" id="{BDF8EC63-A70A-4165-96F5-63DD396D9778}"/>
              </a:ext>
            </a:extLst>
          </p:cNvPr>
          <p:cNvSpPr>
            <a:spLocks noGrp="1"/>
          </p:cNvSpPr>
          <p:nvPr/>
        </p:nvSpPr>
        <p:spPr>
          <a:xfrm>
            <a:off x="1524000" y="4318000"/>
            <a:ext cx="5842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Char char="✓"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上傳程式與 services/</a:t>
            </a:r>
            <a:endParaRPr sz="2000"/>
          </a:p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Char char="✓"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重啟 ESP32 載入新頁面</a:t>
            </a:r>
            <a:endParaRPr sz="2000"/>
          </a:p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Char char="✓"/>
              <a:def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瀏覽器 Ctrl+F5 刷新</a:t>
            </a:r>
            <a:endParaRPr sz="2000"/>
          </a:p>
        </p:txBody>
      </p:sp>
      <p:sp>
        <p:nvSpPr>
          <p:cNvPr id="9" name="deployment_acceptance-shape-8">
            <a:extLst>
              <a:ext uri="{FF2B5EF4-FFF2-40B4-BE49-F238E27FC236}">
                <a16:creationId xmlns:a16="http://schemas.microsoft.com/office/drawing/2014/main" id="{AAA5F5E2-21FC-4183-BAF4-18BC114FA4BD}"/>
              </a:ext>
            </a:extLst>
          </p:cNvPr>
          <p:cNvSpPr>
            <a:spLocks noGrp="1"/>
          </p:cNvSpPr>
          <p:nvPr/>
        </p:nvSpPr>
        <p:spPr>
          <a:xfrm>
            <a:off x="8382000" y="3048000"/>
            <a:ext cx="6858000" cy="4572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deployment_acceptance-text-9">
            <a:extLst>
              <a:ext uri="{FF2B5EF4-FFF2-40B4-BE49-F238E27FC236}">
                <a16:creationId xmlns:a16="http://schemas.microsoft.com/office/drawing/2014/main" id="{05D08C12-80C3-4EE2-900E-8561E91465B1}"/>
              </a:ext>
            </a:extLst>
          </p:cNvPr>
          <p:cNvSpPr>
            <a:spLocks noGrp="1"/>
          </p:cNvSpPr>
          <p:nvPr/>
        </p:nvSpPr>
        <p:spPr>
          <a:xfrm>
            <a:off x="8890000" y="3556000"/>
            <a:ext cx="5842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rPr sz="2400">
                <a:solidFill>
                  <a:srgbClr val="20267A"/>
                </a:solidFill>
                <a:latin typeface="Noto Sans TC"/>
                <a:ea typeface="Noto Sans TC"/>
                <a:cs typeface="Noto Sans TC"/>
              </a:rPr>
              <a:t>關鍵情境</a:t>
            </a:r>
            <a:endParaRPr sz="2400"/>
          </a:p>
        </p:txBody>
      </p:sp>
      <p:sp>
        <p:nvSpPr>
          <p:cNvPr id="11" name="deployment_acceptance-text-10">
            <a:extLst>
              <a:ext uri="{FF2B5EF4-FFF2-40B4-BE49-F238E27FC236}">
                <a16:creationId xmlns:a16="http://schemas.microsoft.com/office/drawing/2014/main" id="{19C2A857-5859-41E4-A8F9-E4B333E3609C}"/>
              </a:ext>
            </a:extLst>
          </p:cNvPr>
          <p:cNvSpPr>
            <a:spLocks noGrp="1"/>
          </p:cNvSpPr>
          <p:nvPr/>
        </p:nvSpPr>
        <p:spPr>
          <a:xfrm>
            <a:off x="8890000" y="4318000"/>
            <a:ext cx="5842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實體與 Web 正常換色</a:t>
            </a:r>
            <a:endParaRPr sz="2000"/>
          </a:p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2"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紅閃五次後正確恢復</a:t>
            </a:r>
            <a:endParaRPr sz="2000"/>
          </a:p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3"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警示中長按，結束不補做</a:t>
            </a:r>
            <a:endParaRPr sz="2000"/>
          </a:p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4"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回亮再暗，才重新觸發</a:t>
            </a:r>
            <a:endParaRPr sz="2000"/>
          </a:p>
          <a:p>
            <a:pPr marL="317500" indent="-317500" algn="l">
              <a:lnSpc>
                <a:spcPts val="3200"/>
              </a:lnSpc>
              <a:spcBef>
                <a:spcPts val="10"/>
              </a:spcBef>
              <a:buSzPct val="100000"/>
              <a:buFont typeface="+mj-lt"/>
              <a:buAutoNum type="arabicPeriod" startAt="5"/>
              <a:def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defRPr>
            </a:pPr>
            <a:r>
              <a:rPr sz="2250">
                <a:solidFill>
                  <a:srgbClr val="26343E"/>
                </a:solidFill>
                <a:latin typeface="Noto Sans TC"/>
                <a:ea typeface="Noto Sans TC"/>
                <a:cs typeface="Noto Sans TC"/>
              </a:rPr>
              <a:t>排隊換色遭警示時明確拒絕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983895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nal_takeaways-shape-1">
            <a:extLst>
              <a:ext uri="{FF2B5EF4-FFF2-40B4-BE49-F238E27FC236}">
                <a16:creationId xmlns:a16="http://schemas.microsoft.com/office/drawing/2014/main" id="{20AC361F-6037-4037-84D0-AC64282EB306}"/>
              </a:ext>
            </a:extLst>
          </p:cNvPr>
          <p:cNvSpPr>
            <a:spLocks noGrp="1"/>
          </p:cNvSpPr>
          <p:nvPr/>
        </p:nvSpPr>
        <p:spPr>
          <a:xfrm>
            <a:off x="0" y="1016000"/>
            <a:ext cx="16256000" cy="50800"/>
          </a:xfrm>
          <a:prstGeom prst="rect">
            <a:avLst/>
          </a:prstGeom>
          <a:solidFill>
            <a:srgbClr val="00897B"/>
          </a:solidFill>
        </p:spPr>
        <p:txBody>
          <a:bodyPr/>
          <a:lstStyle/>
          <a:p>
            <a:endParaRPr lang="zh-TW" altLang="en-US"/>
          </a:p>
        </p:txBody>
      </p:sp>
      <p:sp>
        <p:nvSpPr>
          <p:cNvPr id="3" name="final_takeaways-text-2">
            <a:extLst>
              <a:ext uri="{FF2B5EF4-FFF2-40B4-BE49-F238E27FC236}">
                <a16:creationId xmlns:a16="http://schemas.microsoft.com/office/drawing/2014/main" id="{4D64947F-9D00-4EE9-83FD-651583CF8855}"/>
              </a:ext>
            </a:extLst>
          </p:cNvPr>
          <p:cNvSpPr>
            <a:spLocks noGrp="1"/>
          </p:cNvSpPr>
          <p:nvPr/>
        </p:nvSpPr>
        <p:spPr>
          <a:xfrm>
            <a:off x="1016000" y="508000"/>
            <a:ext cx="635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l">
              <a:buNone/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rPr>
              <a:t>結語</a:t>
            </a:r>
            <a:endParaRPr sz="1400"/>
          </a:p>
        </p:txBody>
      </p:sp>
      <p:sp>
        <p:nvSpPr>
          <p:cNvPr id="4" name="final_takeaways-text-3">
            <a:extLst>
              <a:ext uri="{FF2B5EF4-FFF2-40B4-BE49-F238E27FC236}">
                <a16:creationId xmlns:a16="http://schemas.microsoft.com/office/drawing/2014/main" id="{DCFDCD90-CDE4-40FE-937A-04B285863EFA}"/>
              </a:ext>
            </a:extLst>
          </p:cNvPr>
          <p:cNvSpPr>
            <a:spLocks noGrp="1"/>
          </p:cNvSpPr>
          <p:nvPr/>
        </p:nvSpPr>
        <p:spPr>
          <a:xfrm>
            <a:off x="13970000" y="508000"/>
            <a:ext cx="1270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r">
              <a:buNone/>
              <a:def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defRPr>
            </a:pPr>
            <a:r>
              <a:rPr sz="1350">
                <a:solidFill>
                  <a:srgbClr val="C8DAE5"/>
                </a:solidFill>
                <a:latin typeface="Noto Sans TC"/>
                <a:ea typeface="Noto Sans TC"/>
                <a:cs typeface="Noto Sans TC"/>
              </a:rPr>
              <a:t>16</a:t>
            </a:r>
            <a:endParaRPr sz="1400"/>
          </a:p>
        </p:txBody>
      </p:sp>
      <p:sp>
        <p:nvSpPr>
          <p:cNvPr id="5" name="final_takeaways-text-4">
            <a:extLst>
              <a:ext uri="{FF2B5EF4-FFF2-40B4-BE49-F238E27FC236}">
                <a16:creationId xmlns:a16="http://schemas.microsoft.com/office/drawing/2014/main" id="{DD391B6E-EF4F-4C72-83DE-4CD270E87B21}"/>
              </a:ext>
            </a:extLst>
          </p:cNvPr>
          <p:cNvSpPr>
            <a:spLocks noGrp="1"/>
          </p:cNvSpPr>
          <p:nvPr/>
        </p:nvSpPr>
        <p:spPr>
          <a:xfrm>
            <a:off x="1016000" y="1778000"/>
            <a:ext cx="14224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 marL="0" indent="0" algn="ctr">
              <a:buNone/>
              <a:def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45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共同規則，單一操作</a:t>
            </a:r>
            <a:endParaRPr sz="4000"/>
          </a:p>
        </p:txBody>
      </p:sp>
      <p:sp>
        <p:nvSpPr>
          <p:cNvPr id="6" name="final_takeaways-shape-5">
            <a:extLst>
              <a:ext uri="{FF2B5EF4-FFF2-40B4-BE49-F238E27FC236}">
                <a16:creationId xmlns:a16="http://schemas.microsoft.com/office/drawing/2014/main" id="{0C07DB3F-9829-4F25-8911-3C056DACA8EC}"/>
              </a:ext>
            </a:extLst>
          </p:cNvPr>
          <p:cNvSpPr>
            <a:spLocks noGrp="1"/>
          </p:cNvSpPr>
          <p:nvPr/>
        </p:nvSpPr>
        <p:spPr>
          <a:xfrm>
            <a:off x="3048000" y="3048000"/>
            <a:ext cx="10160000" cy="4572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final_takeaways-text-6">
            <a:extLst>
              <a:ext uri="{FF2B5EF4-FFF2-40B4-BE49-F238E27FC236}">
                <a16:creationId xmlns:a16="http://schemas.microsoft.com/office/drawing/2014/main" id="{52974236-DEF8-4F64-8300-B0DBE90D2618}"/>
              </a:ext>
            </a:extLst>
          </p:cNvPr>
          <p:cNvSpPr>
            <a:spLocks noGrp="1"/>
          </p:cNvSpPr>
          <p:nvPr/>
        </p:nvSpPr>
        <p:spPr>
          <a:xfrm>
            <a:off x="3556000" y="3556000"/>
            <a:ext cx="91440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defPPr>
            <a:lvl1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1pPr>
            <a:lvl2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2pPr>
            <a:lvl3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3pPr>
            <a:lvl4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4pPr>
            <a:lvl5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5pPr>
            <a:lvl6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6pPr>
            <a:lvl7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7pPr>
            <a:lvl8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8pPr>
            <a:lvl9pPr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lvl9pPr>
          </a:lstStyle>
          <a:p>
            <a:pPr>
              <a:spcAft>
                <a:spcPts val="2400"/>
              </a:spcAft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t>硬體由同一個 owner 操作</a:t>
            </a:r>
          </a:p>
          <a:p>
            <a:pPr>
              <a:spcAft>
                <a:spcPts val="2400"/>
              </a:spcAft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t>受理、執行與暫時效果分清楚</a:t>
            </a:r>
          </a:p>
          <a:p>
            <a:pPr>
              <a:spcAft>
                <a:spcPts val="2400"/>
              </a:spcAft>
              <a:defRPr sz="2700">
                <a:solidFill>
                  <a:srgbClr val="20267A"/>
                </a:solidFill>
                <a:latin typeface="Noto Sans TC"/>
                <a:ea typeface="Noto Sans TC"/>
                <a:cs typeface="Noto Sans TC"/>
              </a:defRPr>
            </a:pPr>
            <a:r>
              <a:t>所有來源遵守後端的共同規則</a:t>
            </a:r>
          </a:p>
        </p:txBody>
      </p:sp>
    </p:spTree>
    <p:extLst>
      <p:ext uri="{BB962C8B-B14F-4D97-AF65-F5344CB8AC3E}">
        <p14:creationId xmlns:p14="http://schemas.microsoft.com/office/powerpoint/2010/main" val="730530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DocSecurity>0</DocSecurity>
  <PresentationFormat>自訂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Noto Sans TC</vt:lpstr>
      <vt:lpstr>Arial</vt:lpstr>
      <vt:lpstr>Roboto Mono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Yeh Hank</cp:lastModifiedBy>
  <cp:revision>1</cp:revision>
  <dcterms:created xsi:type="dcterms:W3CDTF">2026-10-26T10:00:32Z</dcterms:created>
  <dcterms:modified xsi:type="dcterms:W3CDTF">2026-10-26T15:31:37Z</dcterms:modified>
</cp:coreProperties>
</file>