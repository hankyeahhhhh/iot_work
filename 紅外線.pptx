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c8b48ba8ab4483" /><Relationship Type="http://schemas.openxmlformats.org/officeDocument/2006/relationships/extended-properties" Target="/docProps/app.xml" Id="R2b9f1021667e4829" /><Relationship Type="http://schemas.openxmlformats.org/officeDocument/2006/relationships/officeDocument" Target="/ppt/presentation.xml" Id="Re5859d56618e41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ad86cda73e42b6"/>
  </p:sldMasterIdLst>
  <p:notesMasterIdLst>
    <p:notesMasterId xmlns:r="http://schemas.openxmlformats.org/officeDocument/2006/relationships" r:id="R94bc135590e84f91"/>
  </p:notesMasterIdLst>
  <p:sldIdLst>
    <p:sldId xmlns:r="http://schemas.openxmlformats.org/officeDocument/2006/relationships" id="256" r:id="Rb44085322e314c41"/>
    <p:sldId xmlns:r="http://schemas.openxmlformats.org/officeDocument/2006/relationships" id="257" r:id="Raa5d00fac2d940d4"/>
    <p:sldId xmlns:r="http://schemas.openxmlformats.org/officeDocument/2006/relationships" id="258" r:id="R8837a2d2529d44a0"/>
    <p:sldId xmlns:r="http://schemas.openxmlformats.org/officeDocument/2006/relationships" id="259" r:id="R85be5c2bc2484739"/>
    <p:sldId xmlns:r="http://schemas.openxmlformats.org/officeDocument/2006/relationships" id="260" r:id="R24965dd20c6c4fa8"/>
    <p:sldId xmlns:r="http://schemas.openxmlformats.org/officeDocument/2006/relationships" id="261" r:id="R690cf005587b418b"/>
    <p:sldId xmlns:r="http://schemas.openxmlformats.org/officeDocument/2006/relationships" id="262" r:id="R79ed8457ddea456b"/>
    <p:sldId xmlns:r="http://schemas.openxmlformats.org/officeDocument/2006/relationships" id="263" r:id="Rf0faf5cf43e5414d"/>
    <p:sldId xmlns:r="http://schemas.openxmlformats.org/officeDocument/2006/relationships" id="264" r:id="Reccbc593105e4e56"/>
    <p:sldId xmlns:r="http://schemas.openxmlformats.org/officeDocument/2006/relationships" id="265" r:id="R4317365ec4144ea3"/>
    <p:sldId xmlns:r="http://schemas.openxmlformats.org/officeDocument/2006/relationships" id="266" r:id="R1c29891b9eac465c"/>
    <p:sldId xmlns:r="http://schemas.openxmlformats.org/officeDocument/2006/relationships" id="267" r:id="R44788500bb184bca"/>
    <p:sldId xmlns:r="http://schemas.openxmlformats.org/officeDocument/2006/relationships" id="268" r:id="R289964bd6a3f418f"/>
    <p:sldId xmlns:r="http://schemas.openxmlformats.org/officeDocument/2006/relationships" id="269" r:id="R1cb410b4156c4202"/>
    <p:sldId xmlns:r="http://schemas.openxmlformats.org/officeDocument/2006/relationships" id="270" r:id="Rc5a8f8cc622c41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9f357ada87439c" /><Relationship Type="http://schemas.openxmlformats.org/officeDocument/2006/relationships/slideMaster" Target="/ppt/slideMasters/slideMaster1.xml" Id="R63ad86cda73e42b6" /><Relationship Type="http://schemas.openxmlformats.org/officeDocument/2006/relationships/notesMaster" Target="/ppt/notesMasters/notesMaster1.xml" Id="R94bc135590e84f91" /><Relationship Type="http://schemas.openxmlformats.org/officeDocument/2006/relationships/presProps" Target="/ppt/presProps.xml" Id="R2a547296fdc44c83" /><Relationship Type="http://schemas.openxmlformats.org/officeDocument/2006/relationships/tableStyles" Target="/ppt/tableStyles.xml" Id="R1e30884112884a98" /><Relationship Type="http://schemas.openxmlformats.org/officeDocument/2006/relationships/slide" Target="/ppt/slides/slide1.xml" Id="Rb44085322e314c41" /><Relationship Type="http://schemas.openxmlformats.org/officeDocument/2006/relationships/slide" Target="/ppt/slides/slide2.xml" Id="Raa5d00fac2d940d4" /><Relationship Type="http://schemas.openxmlformats.org/officeDocument/2006/relationships/slide" Target="/ppt/slides/slide3.xml" Id="R8837a2d2529d44a0" /><Relationship Type="http://schemas.openxmlformats.org/officeDocument/2006/relationships/slide" Target="/ppt/slides/slide4.xml" Id="R85be5c2bc2484739" /><Relationship Type="http://schemas.openxmlformats.org/officeDocument/2006/relationships/slide" Target="/ppt/slides/slide5.xml" Id="R24965dd20c6c4fa8" /><Relationship Type="http://schemas.openxmlformats.org/officeDocument/2006/relationships/slide" Target="/ppt/slides/slide6.xml" Id="R690cf005587b418b" /><Relationship Type="http://schemas.openxmlformats.org/officeDocument/2006/relationships/slide" Target="/ppt/slides/slide7.xml" Id="R79ed8457ddea456b" /><Relationship Type="http://schemas.openxmlformats.org/officeDocument/2006/relationships/slide" Target="/ppt/slides/slide8.xml" Id="Rf0faf5cf43e5414d" /><Relationship Type="http://schemas.openxmlformats.org/officeDocument/2006/relationships/slide" Target="/ppt/slides/slide9.xml" Id="Reccbc593105e4e56" /><Relationship Type="http://schemas.openxmlformats.org/officeDocument/2006/relationships/slide" Target="/ppt/slides/slide10.xml" Id="R4317365ec4144ea3" /><Relationship Type="http://schemas.openxmlformats.org/officeDocument/2006/relationships/slide" Target="/ppt/slides/slide11.xml" Id="R1c29891b9eac465c" /><Relationship Type="http://schemas.openxmlformats.org/officeDocument/2006/relationships/slide" Target="/ppt/slides/slide12.xml" Id="R44788500bb184bca" /><Relationship Type="http://schemas.openxmlformats.org/officeDocument/2006/relationships/slide" Target="/ppt/slides/slide13.xml" Id="R289964bd6a3f418f" /><Relationship Type="http://schemas.openxmlformats.org/officeDocument/2006/relationships/slide" Target="/ppt/slides/slide14.xml" Id="R1cb410b4156c4202" /><Relationship Type="http://schemas.openxmlformats.org/officeDocument/2006/relationships/slide" Target="/ppt/slides/slide15.xml" Id="Rc5a8f8cc622c41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eb5bf4277947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JhengHei"/>
        <a:ea typeface=""/>
        <a:cs typeface=""/>
      </a:majorFont>
      <a:minorFont>
        <a:latin typeface="Microsoft Jheng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7cf78568564593" /><Relationship Type="http://schemas.openxmlformats.org/officeDocument/2006/relationships/notesMaster" Target="/ppt/notesMasters/notesMaster1.xml" Id="Rc5498b4281db4c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c69e6bbee849df" /><Relationship Type="http://schemas.openxmlformats.org/officeDocument/2006/relationships/notesMaster" Target="/ppt/notesMasters/notesMaster1.xml" Id="R7cc192cae6ab42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0cf8469d864477" /><Relationship Type="http://schemas.openxmlformats.org/officeDocument/2006/relationships/notesMaster" Target="/ppt/notesMasters/notesMaster1.xml" Id="Rb0b038b315e846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5bb876cbf64c66" /><Relationship Type="http://schemas.openxmlformats.org/officeDocument/2006/relationships/notesMaster" Target="/ppt/notesMasters/notesMaster1.xml" Id="Ra9788b0e90134b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949df93a3c4e7f" /><Relationship Type="http://schemas.openxmlformats.org/officeDocument/2006/relationships/notesMaster" Target="/ppt/notesMasters/notesMaster1.xml" Id="Rb4efbcbc75494d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09e875caac4279" /><Relationship Type="http://schemas.openxmlformats.org/officeDocument/2006/relationships/notesMaster" Target="/ppt/notesMasters/notesMaster1.xml" Id="R04927454006a4a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0142fcc3b74857" /><Relationship Type="http://schemas.openxmlformats.org/officeDocument/2006/relationships/notesMaster" Target="/ppt/notesMasters/notesMaster1.xml" Id="Re62bbbc496f74e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e30be6e8e04d5c" /><Relationship Type="http://schemas.openxmlformats.org/officeDocument/2006/relationships/notesMaster" Target="/ppt/notesMasters/notesMaster1.xml" Id="R85042dc36a8649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12dae6bb54408e" /><Relationship Type="http://schemas.openxmlformats.org/officeDocument/2006/relationships/notesMaster" Target="/ppt/notesMasters/notesMaster1.xml" Id="Rcdb5fec62e8643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c3716465734e65" /><Relationship Type="http://schemas.openxmlformats.org/officeDocument/2006/relationships/notesMaster" Target="/ppt/notesMasters/notesMaster1.xml" Id="R47957b0a4aa444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e58eaf843d46ef" /><Relationship Type="http://schemas.openxmlformats.org/officeDocument/2006/relationships/notesMaster" Target="/ppt/notesMasters/notesMaster1.xml" Id="R0de87015690040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0d27f9b33ee4c66" /><Relationship Type="http://schemas.openxmlformats.org/officeDocument/2006/relationships/notesMaster" Target="/ppt/notesMasters/notesMaster1.xml" Id="R2cb7f985cb704f8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008fb85d954993" /><Relationship Type="http://schemas.openxmlformats.org/officeDocument/2006/relationships/notesMaster" Target="/ppt/notesMasters/notesMaster1.xml" Id="R0dead047004d4c2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ca3a67efa924d73" /><Relationship Type="http://schemas.openxmlformats.org/officeDocument/2006/relationships/notesMaster" Target="/ppt/notesMasters/notesMaster1.xml" Id="Rf1541e93daac491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b586bdb8d6b445a" /><Relationship Type="http://schemas.openxmlformats.org/officeDocument/2006/relationships/notesMaster" Target="/ppt/notesMasters/notesMaster1.xml" Id="Rf5f195e75a3c4b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大家好，今天介紹我們 ESP32 專案中的 PIR 紅外線感測器。我會先說明它怎麼偵測活動，再介紹移入與移出的程式判定，以及它和音樂、網站、網路、其他任務的關係。這份報告以我們交付的 v5 程式為準。如果板子上曾自行修改 config.py，實際條件應以板端設定為準。封面照片是參考模組，並非本組實物照片。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建議時間：20秒</a:t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專案 v5：config.example.py、app.py、tasks.py</a:t>
            </a:r>
          </a:p>
          <a:p xmlns:a="http://schemas.openxmlformats.org/drawingml/2006/main">
            <a:r>
              <a:t>圖片：https://www.adafruit.com/product/189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PIR 是被動式紅外線感測器。物體會向外輻射紅外線，PIR 接收視野中紅外線能量的變化。當熱源穿過不同感測區域時，感測元件產生變化，模組再將它轉成輸出訊號。常見的白色透鏡用來形成感測區域。圖上的紅色、綠色是不同區域，與我們的 RGB LED 顏色無關。右下波形是原理中的類比變化，我們的 ESP32 程式只讀模組處理後的高或低電位。因此，程式取得的是活動訊號，無法直接知道人的身分或行進方向。不同模組的內部結構和規格可能不同，本組型號尚未確認。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建議時間：50秒</a:t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https://learn.adafruit.com/pir-passive-infrared-proximity-motion-sensor/how-pirs-work</a:t>
            </a:r>
          </a:p>
          <a:p xmlns:a="http://schemas.openxmlformats.org/drawingml/2006/main">
            <a:r>
              <a:t>https://industry.panasonic.eu/products/components/sensors/passive-infrared-motion-sensors-papirs/passive-infrared-motion-sensors-faq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程式使用的 PIR 訊號腳是 GPIO 26，設定成 Pin.IN。is_motion() 讀取 pin.value()，再轉成布林值，所以這條路徑使用數位輸入，沒有進行 ADC 量測。PIR 與 ESP32 需要共地，讓高低電位有共同的參考。供電電壓不能只看外觀猜測，應核對實際模組規格與輸出邏輯是否相容。喇叭則接 GPIO 16，以 PWM 播放音符。GPIO 26 和 16 是我們這個專案的設定，不是所有 ESP32 專案的固定接法。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建議時間：35秒</a:t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config.example.py:22–23；hardware/sensors.py:11–19；hardware/speaker.py:7–21</a:t>
            </a:r>
          </a:p>
          <a:p xmlns:a="http://schemas.openxmlformats.org/drawingml/2006/main">
            <a:r>
              <a:t>https://docs.micropython.org/en/v1.29.0/library/machine.Pin.html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這個功能不是全部寫在同一個檔案。app.py 負責把硬體與背景任務組合起來，並建立 motion_event 和 motion_state。hardware/sensors.py 專心讀取腳位。tasks.py 裡的 PIR 任務負責判斷事件，音樂任務另外等待通知。hardware/motion.py 定義狀態欄位，而 web_server.py 與 index.html 處理網站。這樣分工之後，網站讀取狀態時，不需要直接讀 GPIO，也不需要等待整首音樂播完。實際部署採預編譯的 .mpy，說明邏輯時對照的是 .py 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建議時間：40秒</a:t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app.py:main；hardware/sensors.py:PirSensor；tasks.py:pir_monitor_task、music_on_motion_task；hardware/motion.py:new_motion_state；web_server.py:api_motion_status；index.html:updateMotionStatus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我們每次讀完 PIR 後會等待 100 毫秒，讓出執行時間。高電位要持續至少 200 毫秒才算移入，避免短暫脈衝。移入後即使一直維持高電位，也只計一次，因為程式已取消重新觸發的資格。只有後續低電位持續至少 1500 毫秒，才記錄移出並重新允許移入。開機看到低電位，不會憑空補一筆移出。這些條件是在離散取樣下確認的時間，受排程影響，並非精確即時保證。感測器讀取發生錯誤時，則記為未知狀態，不能把錯誤當成有人離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建議時間：45秒</a:t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tasks.py:pir_monitor_task；config.example.py:PIR_POLL_INTERVAL_MS、PIR_HIGH_DEBOUNCE_MS、PIR_LOW_REARM_MS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一頁用假設的訊號說明流程，不是板子實測結果。假設系統已經在穩定低電位，到了第一秒，模組輸出轉高。程式先開始計時，在第一點二秒才確認移入、增加次數並設定音樂事件。之後高電位持續多久，都不會重複新增移入。第三秒模組轉低，也不立即算移出，要等到第四點五秒才確認。這裡的第三秒是模組訊號實際轉低的時間，未必就是人停止活動的當下。網站還要等自己的輪詢取得新狀態，因此畫面不一定和 GPIO 轉換在同一瞬間改變。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建議時間：45秒</a:t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tasks.py:pir_monitor_task；index.html:pollMotionStatus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PIR 任務在確認移入時，只透過 motion_event.set() 通知音樂任務，不直接播放整首音樂。另一個任務等待 Event，收到後使用喇叭物件播放。頻率分別約為 C4 的 262 Hz、E4 的 330 Hz、D4 的 294 Hz、G3 的 196 Hz，最後休止。整段設定時間合計約 1.4 秒。每個音符都用 await 等待，因此其他任務仍能執行。播放期間若收到多次移入，Event 只保留一次待播通知，所以事件次數與播放首數不一定相同。移出本身不會播放音樂，網站顯示播放中也不保證實體喇叭真的有聲音。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建議時間：40秒</a:t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tasks.py:music_on_motion_task；hardware/speaker.py:Speaker；config.example.py:MOTION_MELODY</a:t>
            </a:r>
          </a:p>
          <a:p xmlns:a="http://schemas.openxmlformats.org/drawingml/2006/main">
            <a:r>
              <a:t>https://docs.micropython.org/en/v1.29.0/library/asyncio.html</a:t>
            </a:r>
          </a:p>
          <a:p xmlns:a="http://schemas.openxmlformats.org/drawingml/2006/main">
            <a:r>
              <a:t>https://docs.micropython.org/en/v1.29.0/library/machine.PWM.html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網站看到的資料來自 motion_state 這個 RAM 快照，而不是每次 HTTP 請求都重新讀 PIR。瀏覽器呼叫 GET /api/motion/status，socket HTTP 服務把狀態編成 JSON 回傳。一次請求完成後，再等待一秒發下一次，所以更新週期會包含網路和處理時間。最近五筆事件保存在 ESP32 RAM，重新整理網頁仍可讀回，但 ESP32 重啟會清空。雖然一般感測 API 也含有 motion 的副本，網站的 PIR 卡片只接受獨立通道更新，避免較慢的舊回應覆蓋新事件。新版使用 presence，並不再用舊 detected 的五秒提示判定移出。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建議時間：40秒</a:t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hardware/motion.py:new_motion_state；web_server.py:api_motion_status、api_data；index.html:updateMotionStatus、pollMotionStatus、renderMotionStatus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系統透過 uasyncio.gather 啟動多個任務，這裡的並行是協作式排程，並不是每個任務都有一顆 CPU。PIR 任務完成一輪會 await sleep_ms，播放音符也用 await sleep，這些時機讓其他工作繼續執行。PIR、網站和音樂共享 CPU 與 RAM，網路服務另外使用 Wi-Fi 與 socket 資源。如果其他程式長時間阻塞，感測和畫面都可能變慢，所以 100 毫秒輪詢不能當作反應時間保證。Event 用來通知播放，motion_state 則用來保存可以被網站讀取的資料，兩者的用途不同。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建議時間：40秒</a:t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app.py:main；tasks.py:pir_monitor_task、music_on_motion_task</a:t>
            </a:r>
          </a:p>
          <a:p xmlns:a="http://schemas.openxmlformats.org/drawingml/2006/main">
            <a:r>
              <a:t>https://docs.micropython.org/en/v1.29.0/library/asyncio.html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老師問到牽連的功能時，我們要分清楚直接連動和共同資源。PIR 直接改變的是網站狀態與移入提示音。網站要透過 Wi-Fi 與 socket 才能讀到資料，但網站斷線時，PIR 和音樂背景任務通常仍能工作，前提是主程式沒有停止。事件時間依賴 RTC，開機的 NTP 校時會影響時間標籤。現在的 MQTT 訊息與 OLED 內容是溫濕度，並沒有把 PIR 事件接上去。RGB LED 的綠燈三次來自網站按鈕，紅燈來自光照警示，RFID 則保留刷卡紀錄，這幾個功能都不能說成由 PIR 自動觸發。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建議時間：45秒</a:t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tasks.py:mqtt_publish_task、oled_display_task、light_sensor_task、rfid_read_task；index.html:blinkGreen；communication/wifi.py:sync_time、get_current_time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需要注意的是，我們目前把活動訊號開始和結束稱為移入和移出。這是軟體定義，不能保證人真的進門或離開，也不能把移入減移出當成現場人數。模組可能有自己的輸出維持時間，靜止的人也可能沒有持續觸發。暖機與環境變化同樣會影響判定，目前程式只有去彈跳，沒有另外等待模組暖機。展示時應先等實際模組穩定。未來如果要辨識方向，需要增加有順序的偵測點並另寫判斷邏輯。把事件接到 MQTT、資料庫或 OLED 也是延伸方向，報告時要明確說這些尚未實作。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建議時間：50秒</a:t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tasks.py:pir_monitor_task；hardware/motion.py:new_motion_state</a:t>
            </a:r>
          </a:p>
          <a:p xmlns:a="http://schemas.openxmlformats.org/drawingml/2006/main">
            <a:r>
              <a:t>https://industry.panasonic.eu/products/components/sensors/passive-infrared-motion-sensors-papirs/passive-infrared-motion-sensors-faq</a:t>
            </a:r>
          </a:p>
          <a:p xmlns:a="http://schemas.openxmlformats.org/drawingml/2006/main">
            <a:r>
              <a:t>https://learn.adafruit.com/pir-passive-infrared-proximity-motion-sensor/how-pirs-work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現場示範我會先開啟網站，等模組穩定，確認不是剛開機的不穩定訊號。接著讓身體橫向穿過偵測區，看網站是否顯示移入，以及喇叭是否播放提示音。然後等待模組訊號回到低電位，再加上程式的 1.5 秒確認時間，看移出是否出現。最後檢查兩種次數和最近五筆時間，再做第二輪，確認沒有持續高電位就重複計次。如果有延遲，我會對照序列埠的 PIR 訊息，區分是感測、程式排程還是瀏覽器更新造成，而不是只看網頁就認定硬體壞掉。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建議時間：40秒</a:t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tasks.py:pir_monitor_task 的 PIR 日誌；index.html:renderMotionStatus；v5 程式預期行為，待實機示範確認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如果老師問為什麼移出比較慢，我會說明有模組延遲、低電位確認和瀏覽器輪詢三個時間來源。如果人還在卻顯示移出，是因為它偵測的是活動訊號變化，並沒有持續辨識人的存在。網站只是顯示端，只要 ESP32 主程式還在正常運行，即使把瀏覽器關掉，本地的偵測與音樂仍然能執行。如果要真正的人數統計，就必須設計額外的感測點與方向判斷，處理同時通過等情況。最後，專案已有桌面模擬測試，但實際距離、聲音和現場穩定性仍要用實機確認，不能拿模擬結果當實測數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建議時間：45秒</a:t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app.py:main；tasks.py:pir_monitor_task、music_on_motion_task；VERIFICATION_REPORT.json 為 2026-10-20 v5 桌面驗證紀錄</a:t>
            </a:r>
          </a:p>
          <a:p xmlns:a="http://schemas.openxmlformats.org/drawingml/2006/main">
            <a:r>
              <a:t>https://industry.panasonic.eu/products/components/sensors/passive-infrared-motion-sensors-papirs/passive-infrared-motion-sensors-faq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我們目前完成的是一個活動感測與展示流程。GPIO 26 接收訊號，程式用穩定時間判定事件，移入時播放音樂，網站再從 RAM 快照取得計數和紀錄。這個功能牽涉硬體輸入、事件通知、聲音輸出、HTTP 通訊和共同排程。報告時最重要的是清楚區分目前做得到的功能，以及尚未實作的方向辨識和永久紀錄。以上是我們的說明，謝謝大家。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建議時間：25秒</a:t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專案 v5：app.py、tasks.py、hardware/motion.py、web_server.py、index.html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本頁為備查，不列入主要口頭報告時間。理論來源：Adafruit PIR Motion Sensor 的 How PIRs Work，Panasonic Industry PIR FAQ。程式 API 以 MicroPython v1.29.0 官方 Pin、PWM、asyncio 文件為準。實作來源為目前交付的 v5 原始碼。照片來源為 Adafruit 產品 189，原理圖來源為 Adafruit 教學頁。本報告沒有取得本組實體 PIR 的型號與距離實測結果，因此沒有套用參考產品的特定供電、距離或角度規格。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建議時間：0秒</a:t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https://learn.adafruit.com/pir-passive-infrared-proximity-motion-sensor/how-pirs-work</a:t>
            </a:r>
          </a:p>
          <a:p xmlns:a="http://schemas.openxmlformats.org/drawingml/2006/main">
            <a:r>
              <a:t>https://industry.panasonic.eu/products/components/sensors/passive-infrared-motion-sensors-papirs/passive-infrared-motion-sensors-faq</a:t>
            </a:r>
          </a:p>
          <a:p xmlns:a="http://schemas.openxmlformats.org/drawingml/2006/main">
            <a:r>
              <a:t>https://docs.micropython.org/en/v1.29.0/library/machine.Pin.html</a:t>
            </a:r>
          </a:p>
          <a:p xmlns:a="http://schemas.openxmlformats.org/drawingml/2006/main">
            <a:r>
              <a:t>https://docs.micropython.org/en/v1.29.0/library/asyncio.html</a:t>
            </a:r>
          </a:p>
          <a:p xmlns:a="http://schemas.openxmlformats.org/drawingml/2006/main">
            <a:r>
              <a:t>https://docs.micropython.org/en/v1.29.0/library/machine.PWM.html</a:t>
            </a:r>
          </a:p>
          <a:p xmlns:a="http://schemas.openxmlformats.org/drawingml/2006/main">
            <a:r>
              <a:t>圖片：https://www.adafruit.com/product/189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06df05dd304c2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3088d2bd42401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929c652a1b45b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e3c582c9004fc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abf78e5d9d4fe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f6d6f77ad64f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A7E665-EB88-4DBA-8159-AA3C98F4CA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5D4C87D-2223-4D1E-8F14-2BE9F6AF1B0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0291274-7AB2-49FF-B67E-810EF7C013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293FAB-D246-450E-8484-519AE19A41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4AB29E0-910F-437E-AC20-916855C2DB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F05201B-3226-4D91-86BE-03001124DE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BD5CBA-0D46-46D3-B1A0-74732708B1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A8645D0-BF5B-4067-B579-6A5E6945DDB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0A57D4-6DEB-4C59-9433-E46BF8C2C2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0B1D4E3-B359-41DD-96E0-92E959CACF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c5bd8879894066" /><Relationship Type="http://schemas.openxmlformats.org/officeDocument/2006/relationships/slideLayout" Target="/ppt/slideLayouts/slideLayout1.xml" Id="Rac78f419c9514c7c" /><Relationship Type="http://schemas.openxmlformats.org/officeDocument/2006/relationships/slideLayout" Target="/ppt/slideLayouts/slideLayout2.xml" Id="R632c5daf3b6641e8" /><Relationship Type="http://schemas.openxmlformats.org/officeDocument/2006/relationships/slideLayout" Target="/ppt/slideLayouts/slideLayout3.xml" Id="R25e79dfa02174b08" /><Relationship Type="http://schemas.openxmlformats.org/officeDocument/2006/relationships/slideLayout" Target="/ppt/slideLayouts/slideLayout4.xml" Id="R5530d372bdbd434d" /><Relationship Type="http://schemas.openxmlformats.org/officeDocument/2006/relationships/slideLayout" Target="/ppt/slideLayouts/slideLayout5.xml" Id="R22442637fcd4488c" /><Relationship Type="http://schemas.openxmlformats.org/officeDocument/2006/relationships/slideLayout" Target="/ppt/slideLayouts/slideLayout6.xml" Id="R493a5935a3d748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78f419c9514c7c"/>
    <p:sldLayoutId xmlns:r="http://schemas.openxmlformats.org/officeDocument/2006/relationships" id="2147483650" r:id="R632c5daf3b6641e8"/>
    <p:sldLayoutId xmlns:r="http://schemas.openxmlformats.org/officeDocument/2006/relationships" id="2147483651" r:id="R25e79dfa02174b08"/>
    <p:sldLayoutId xmlns:r="http://schemas.openxmlformats.org/officeDocument/2006/relationships" id="2147483652" r:id="R5530d372bdbd434d"/>
    <p:sldLayoutId xmlns:r="http://schemas.openxmlformats.org/officeDocument/2006/relationships" id="2147483653" r:id="R22442637fcd4488c"/>
    <p:sldLayoutId xmlns:r="http://schemas.openxmlformats.org/officeDocument/2006/relationships" id="2147483654" r:id="R493a5935a3d748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JhengHei"/>
        <a:ea typeface=""/>
        <a:cs typeface=""/>
      </a:majorFont>
      <a:minorFont>
        <a:latin typeface="Microsoft Jheng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b707c7dec24e04" /><Relationship Type="http://schemas.openxmlformats.org/officeDocument/2006/relationships/image" Target="/ppt/media/image.jpeg" Id="Ra8ac46be48a14d0c" /><Relationship Type="http://schemas.openxmlformats.org/officeDocument/2006/relationships/notesSlide" Target="/ppt/notesSlides/notesSlide1.xml" Id="R7411cb1de2bb40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857eddf6cb40df" /><Relationship Type="http://schemas.openxmlformats.org/officeDocument/2006/relationships/image" Target="/ppt/media/image.png" Id="Re02c6120917443f0" /><Relationship Type="http://schemas.openxmlformats.org/officeDocument/2006/relationships/notesSlide" Target="/ppt/notesSlides/notesSlide2.xml" Id="R2b1b6cd8954447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1c9aace2834161" /><Relationship Type="http://schemas.openxmlformats.org/officeDocument/2006/relationships/notesSlide" Target="/ppt/notesSlides/notesSlide3.xml" Id="R4a62680b56ed43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a6b60651cc45b8" /><Relationship Type="http://schemas.openxmlformats.org/officeDocument/2006/relationships/notesSlide" Target="/ppt/notesSlides/notesSlide4.xml" Id="R6a0199a985c54f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c27ab5a93c4ebe" /><Relationship Type="http://schemas.openxmlformats.org/officeDocument/2006/relationships/notesSlide" Target="/ppt/notesSlides/notesSlide5.xml" Id="R1dcb20b52e3a40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a6216fa1ab400e" /><Relationship Type="http://schemas.openxmlformats.org/officeDocument/2006/relationships/notesSlide" Target="/ppt/notesSlides/notesSlide6.xml" Id="R802388c90c0347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248d3fe58948bf" /><Relationship Type="http://schemas.openxmlformats.org/officeDocument/2006/relationships/notesSlide" Target="/ppt/notesSlides/notesSlide7.xml" Id="R74dc33fa53b940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fd2b2af56a4d85" /><Relationship Type="http://schemas.openxmlformats.org/officeDocument/2006/relationships/notesSlide" Target="/ppt/notesSlides/notesSlide8.xml" Id="R27dbdff6c53848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1eaec110794467" /><Relationship Type="http://schemas.openxmlformats.org/officeDocument/2006/relationships/notesSlide" Target="/ppt/notesSlides/notesSlide9.xml" Id="R4a09d4b97e6e41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3c7c92b1e74d75" /><Relationship Type="http://schemas.openxmlformats.org/officeDocument/2006/relationships/notesSlide" Target="/ppt/notesSlides/notesSlide10.xml" Id="Rea9f99d504cd4d7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10c40d9fe3433f" /><Relationship Type="http://schemas.openxmlformats.org/officeDocument/2006/relationships/notesSlide" Target="/ppt/notesSlides/notesSlide11.xml" Id="R0a60718ce3bc47b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80acc7fe87456d" /><Relationship Type="http://schemas.openxmlformats.org/officeDocument/2006/relationships/notesSlide" Target="/ppt/notesSlides/notesSlide12.xml" Id="R9364c33a40d64f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1e692e37634a23" /><Relationship Type="http://schemas.openxmlformats.org/officeDocument/2006/relationships/notesSlide" Target="/ppt/notesSlides/notesSlide13.xml" Id="R6ed446011453452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b0568310174fe7" /><Relationship Type="http://schemas.openxmlformats.org/officeDocument/2006/relationships/notesSlide" Target="/ppt/notesSlides/notesSlide14.xml" Id="R19c06ded023d49d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567964db6c4b27" /><Relationship Type="http://schemas.openxmlformats.org/officeDocument/2006/relationships/notesSlide" Target="/ppt/notesSlides/notesSlide15.xml" Id="Rb62e936570e444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D7A6426-F48D-4DF8-A59C-A25FFB53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581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00" b="1">
                <a:solidFill>
                  <a:srgbClr val="17243D"/>
                </a:solidFill>
              </a:defRPr>
            </a:defPPr>
            <a:lvl1pPr>
              <a:defRPr sz="4800" b="1">
                <a:solidFill>
                  <a:srgbClr val="17243D"/>
                </a:solidFill>
              </a:defRPr>
            </a:lvl1pPr>
            <a:lvl2pPr>
              <a:defRPr sz="4800" b="1">
                <a:solidFill>
                  <a:srgbClr val="17243D"/>
                </a:solidFill>
              </a:defRPr>
            </a:lvl2pPr>
            <a:lvl3pPr>
              <a:defRPr sz="4800" b="1">
                <a:solidFill>
                  <a:srgbClr val="17243D"/>
                </a:solidFill>
              </a:defRPr>
            </a:lvl3pPr>
            <a:lvl4pPr>
              <a:defRPr sz="4800" b="1">
                <a:solidFill>
                  <a:srgbClr val="17243D"/>
                </a:solidFill>
              </a:defRPr>
            </a:lvl4pPr>
            <a:lvl5pPr>
              <a:defRPr sz="4800" b="1">
                <a:solidFill>
                  <a:srgbClr val="17243D"/>
                </a:solidFill>
              </a:defRPr>
            </a:lvl5pPr>
            <a:lvl6pPr>
              <a:defRPr sz="4800" b="1">
                <a:solidFill>
                  <a:srgbClr val="17243D"/>
                </a:solidFill>
              </a:defRPr>
            </a:lvl6pPr>
            <a:lvl7pPr>
              <a:defRPr sz="4800" b="1">
                <a:solidFill>
                  <a:srgbClr val="17243D"/>
                </a:solidFill>
              </a:defRPr>
            </a:lvl7pPr>
            <a:lvl8pPr>
              <a:defRPr sz="4800" b="1">
                <a:solidFill>
                  <a:srgbClr val="17243D"/>
                </a:solidFill>
              </a:defRPr>
            </a:lvl8pPr>
            <a:lvl9pPr>
              <a:defRPr sz="4800" b="1">
                <a:solidFill>
                  <a:srgbClr val="17243D"/>
                </a:solidFill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17243D"/>
                </a:solidFill>
              </a:defRPr>
            </a:pPr>
            <a:r>
              <a:rPr sz="4800" b="1">
                <a:solidFill>
                  <a:srgbClr val="17243D"/>
                </a:solidFill>
              </a:rPr>
              <a:t>PIR 紅外線感測</a:t>
            </a:r>
          </a:p>
          <a:p xmlns:a="http://schemas.openxmlformats.org/drawingml/2006/main">
            <a:pPr>
              <a:defRPr sz="4800" b="1">
                <a:solidFill>
                  <a:srgbClr val="17243D"/>
                </a:solidFill>
              </a:defRPr>
            </a:pPr>
            <a:r>
              <a:rPr sz="4800" b="1">
                <a:solidFill>
                  <a:srgbClr val="17243D"/>
                </a:solidFill>
              </a:rPr>
              <a:t>與網站連動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E4AF925-CD69-4D69-AA92-823102FF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38550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>
                <a:solidFill>
                  <a:srgbClr val="4B5870"/>
                </a:solidFill>
              </a:defRPr>
            </a:defPPr>
            <a:lvl1pPr>
              <a:defRPr sz="2250">
                <a:solidFill>
                  <a:srgbClr val="4B5870"/>
                </a:solidFill>
              </a:defRPr>
            </a:lvl1pPr>
            <a:lvl2pPr>
              <a:defRPr sz="2250">
                <a:solidFill>
                  <a:srgbClr val="4B5870"/>
                </a:solidFill>
              </a:defRPr>
            </a:lvl2pPr>
            <a:lvl3pPr>
              <a:defRPr sz="2250">
                <a:solidFill>
                  <a:srgbClr val="4B5870"/>
                </a:solidFill>
              </a:defRPr>
            </a:lvl3pPr>
            <a:lvl4pPr>
              <a:defRPr sz="2250">
                <a:solidFill>
                  <a:srgbClr val="4B5870"/>
                </a:solidFill>
              </a:defRPr>
            </a:lvl4pPr>
            <a:lvl5pPr>
              <a:defRPr sz="2250">
                <a:solidFill>
                  <a:srgbClr val="4B5870"/>
                </a:solidFill>
              </a:defRPr>
            </a:lvl5pPr>
            <a:lvl6pPr>
              <a:defRPr sz="2250">
                <a:solidFill>
                  <a:srgbClr val="4B5870"/>
                </a:solidFill>
              </a:defRPr>
            </a:lvl6pPr>
            <a:lvl7pPr>
              <a:defRPr sz="2250">
                <a:solidFill>
                  <a:srgbClr val="4B5870"/>
                </a:solidFill>
              </a:defRPr>
            </a:lvl7pPr>
            <a:lvl8pPr>
              <a:defRPr sz="2250">
                <a:solidFill>
                  <a:srgbClr val="4B5870"/>
                </a:solidFill>
              </a:defRPr>
            </a:lvl8pPr>
            <a:lvl9pPr>
              <a:defRPr sz="2250">
                <a:solidFill>
                  <a:srgbClr val="4B5870"/>
                </a:solidFill>
              </a:defRPr>
            </a:lvl9pPr>
          </a:lstStyle>
          <a:p xmlns:a="http://schemas.openxmlformats.org/drawingml/2006/main">
            <a:pPr>
              <a:defRPr sz="2250">
                <a:solidFill>
                  <a:srgbClr val="4B5870"/>
                </a:solidFill>
              </a:defRPr>
            </a:pPr>
            <a:r>
              <a:rPr sz="2250">
                <a:solidFill>
                  <a:srgbClr val="4B5870"/>
                </a:solidFill>
              </a:rPr>
              <a:t>ESP32 物聯網專案 v5</a:t>
            </a:r>
          </a:p>
          <a:p xmlns:a="http://schemas.openxmlformats.org/drawingml/2006/main">
            <a:pPr>
              <a:defRPr sz="2250">
                <a:solidFill>
                  <a:srgbClr val="4B5870"/>
                </a:solidFill>
              </a:defRPr>
            </a:pPr>
            <a:r>
              <a:rPr sz="2250">
                <a:solidFill>
                  <a:srgbClr val="4B5870"/>
                </a:solidFill>
              </a:rPr>
              <a:t>運作原理、程式流程與功能關聯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08B6D8-5951-4513-83E4-DD8CEB5D80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ac46be48a14d0c"/>
          <a:stretch xmlns:a="http://schemas.openxmlformats.org/drawingml/2006/main"/>
        </p:blipFill>
        <p:spPr>
          <a:xfrm xmlns:a="http://schemas.openxmlformats.org/drawingml/2006/main">
            <a:off x="7000875" y="1510940"/>
            <a:ext cx="4476750" cy="3359870"/>
          </a:xfrm>
          <a:prstGeom xmlns:a="http://schemas.openxmlformats.org/drawingml/2006/main" prst="rect">
            <a:avLst/>
          </a:prstGeom>
        </p:spPr>
      </p:pic>
      <p:sp>
        <p:nvSpPr>
          <p:cNvPr id="5" name="photo-caption">
            <a:extLst xmlns:a="http://schemas.openxmlformats.org/drawingml/2006/main">
              <a:ext uri="{FF2B5EF4-FFF2-40B4-BE49-F238E27FC236}">
                <a16:creationId xmlns:a16="http://schemas.microsoft.com/office/drawing/2014/main" id="{51B0B1E0-03FD-401D-80C3-41FDD85D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4827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>
                <a:solidFill>
                  <a:srgbClr val="66738A"/>
                </a:solidFill>
              </a:defRPr>
            </a:defPPr>
            <a:lvl1pPr>
              <a:defRPr sz="1650">
                <a:solidFill>
                  <a:srgbClr val="66738A"/>
                </a:solidFill>
              </a:defRPr>
            </a:lvl1pPr>
            <a:lvl2pPr>
              <a:defRPr sz="1650">
                <a:solidFill>
                  <a:srgbClr val="66738A"/>
                </a:solidFill>
              </a:defRPr>
            </a:lvl2pPr>
            <a:lvl3pPr>
              <a:defRPr sz="1650">
                <a:solidFill>
                  <a:srgbClr val="66738A"/>
                </a:solidFill>
              </a:defRPr>
            </a:lvl3pPr>
            <a:lvl4pPr>
              <a:defRPr sz="1650">
                <a:solidFill>
                  <a:srgbClr val="66738A"/>
                </a:solidFill>
              </a:defRPr>
            </a:lvl4pPr>
            <a:lvl5pPr>
              <a:defRPr sz="1650">
                <a:solidFill>
                  <a:srgbClr val="66738A"/>
                </a:solidFill>
              </a:defRPr>
            </a:lvl5pPr>
            <a:lvl6pPr>
              <a:defRPr sz="1650">
                <a:solidFill>
                  <a:srgbClr val="66738A"/>
                </a:solidFill>
              </a:defRPr>
            </a:lvl6pPr>
            <a:lvl7pPr>
              <a:defRPr sz="1650">
                <a:solidFill>
                  <a:srgbClr val="66738A"/>
                </a:solidFill>
              </a:defRPr>
            </a:lvl7pPr>
            <a:lvl8pPr>
              <a:defRPr sz="1650">
                <a:solidFill>
                  <a:srgbClr val="66738A"/>
                </a:solidFill>
              </a:defRPr>
            </a:lvl8pPr>
            <a:lvl9pPr>
              <a:defRPr sz="1650">
                <a:solidFill>
                  <a:srgbClr val="66738A"/>
                </a:solidFill>
              </a:defRPr>
            </a:lvl9pPr>
          </a:lstStyle>
          <a:p xmlns:a="http://schemas.openxmlformats.org/drawingml/2006/main">
            <a:pPr>
              <a:defRPr sz="1650">
                <a:solidFill>
                  <a:srgbClr val="66738A"/>
                </a:solidFill>
              </a:defRPr>
            </a:pPr>
            <a:r>
              <a:rPr sz="1650">
                <a:solidFill>
                  <a:srgbClr val="66738A"/>
                </a:solidFill>
              </a:rPr>
              <a:t>PIR 模組參考外觀</a:t>
            </a:r>
          </a:p>
          <a:p xmlns:a="http://schemas.openxmlformats.org/drawingml/2006/main">
            <a:pPr>
              <a:defRPr sz="1650">
                <a:solidFill>
                  <a:srgbClr val="66738A"/>
                </a:solidFill>
              </a:defRPr>
            </a:pPr>
            <a:r>
              <a:rPr sz="1650">
                <a:solidFill>
                  <a:srgbClr val="66738A"/>
                </a:solidFill>
              </a:rPr>
              <a:t>實際模組型號尚未確認</a:t>
            </a:r>
          </a:p>
        </p:txBody>
      </p:sp>
    </p:spTree>
    <p:extLst>
      <p:ext uri="{BB962C8B-B14F-4D97-AF65-F5344CB8AC3E}">
        <p14:creationId xmlns:p14="http://schemas.microsoft.com/office/powerpoint/2010/main" val="6010492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15AFBA7-1582-4858-9757-76149D6B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PIR 的感測原理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BBF4402C-5DA1-472F-A9E3-954DD13C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E42A6-6E80-49C1-9D53-46C9156A46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2c6120917443f0"/>
          <a:stretch xmlns:a="http://schemas.openxmlformats.org/drawingml/2006/main"/>
        </p:blipFill>
        <p:spPr>
          <a:xfrm xmlns:a="http://schemas.openxmlformats.org/drawingml/2006/main">
            <a:off x="1026478" y="1390650"/>
            <a:ext cx="4795520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concept">
            <a:extLst xmlns:a="http://schemas.openxmlformats.org/drawingml/2006/main">
              <a:ext uri="{FF2B5EF4-FFF2-40B4-BE49-F238E27FC236}">
                <a16:creationId xmlns:a16="http://schemas.microsoft.com/office/drawing/2014/main" id="{6A374716-5EF0-4374-8923-F048D64C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621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rPr>
              <a:t>被動接收紅外線變化</a:t>
            </a:r>
          </a:p>
        </p:txBody>
      </p:sp>
      <p:sp>
        <p:nvSpPr>
          <p:cNvPr id="6" name="explain">
            <a:extLst xmlns:a="http://schemas.openxmlformats.org/drawingml/2006/main">
              <a:ext uri="{FF2B5EF4-FFF2-40B4-BE49-F238E27FC236}">
                <a16:creationId xmlns:a16="http://schemas.microsoft.com/office/drawing/2014/main" id="{C933B9AD-9F40-4467-ABB0-91267A80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4317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325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325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325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325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325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325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325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325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325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透鏡形成感測區</a:t>
            </a:r>
          </a:p>
          <a:p xmlns:a="http://schemas.openxmlformats.org/drawingml/2006/main">
            <a:pPr>
              <a:defRPr sz="2325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熱源移動造成能量變化</a:t>
            </a:r>
          </a:p>
          <a:p xmlns:a="http://schemas.openxmlformats.org/drawingml/2006/main">
            <a:pPr>
              <a:defRPr sz="2325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模組將變化轉為數位輸出</a:t>
            </a:r>
          </a:p>
        </p:txBody>
      </p:sp>
      <p:sp>
        <p:nvSpPr>
          <p:cNvPr id="7" name="limitation">
            <a:extLst xmlns:a="http://schemas.openxmlformats.org/drawingml/2006/main">
              <a:ext uri="{FF2B5EF4-FFF2-40B4-BE49-F238E27FC236}">
                <a16:creationId xmlns:a16="http://schemas.microsoft.com/office/drawing/2014/main" id="{4631B56B-3775-435D-810C-A0AB7639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52975"/>
            <a:ext cx="485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rPr>
              <a:t>程式讀取高／低電位</a:t>
            </a:r>
          </a:p>
          <a:p xmlns:a="http://schemas.openxmlformats.org/drawingml/2006/main">
            <a:pPr>
              <a:defRPr sz="21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rPr>
              <a:t>單一訊號無法識別方向與人數</a:t>
            </a:r>
          </a:p>
        </p:txBody>
      </p:sp>
      <p:sp>
        <p:nvSpPr>
          <p:cNvPr id="8" name="source-caption">
            <a:extLst xmlns:a="http://schemas.openxmlformats.org/drawingml/2006/main">
              <a:ext uri="{FF2B5EF4-FFF2-40B4-BE49-F238E27FC236}">
                <a16:creationId xmlns:a16="http://schemas.microsoft.com/office/drawing/2014/main" id="{EB5B1D3F-1109-4326-9492-108EB680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673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673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673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673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673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673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673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673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673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673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673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6738A"/>
                </a:solidFill>
                <a:latin typeface="Microsoft JhengHei"/>
                <a:ea typeface="Microsoft JhengHei"/>
                <a:cs typeface="Microsoft JhengHei"/>
              </a:rPr>
              <a:t>原理示意圖：Adafruit。圖中波形為類比變化。</a:t>
            </a:r>
          </a:p>
        </p:txBody>
      </p:sp>
    </p:spTree>
    <p:extLst>
      <p:ext uri="{BB962C8B-B14F-4D97-AF65-F5344CB8AC3E}">
        <p14:creationId xmlns:p14="http://schemas.microsoft.com/office/powerpoint/2010/main" val="1330700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578FA53-12DF-464C-B0AE-6832D4B5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接線與數位輸入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5559FC47-0FCC-4D0F-8FDB-2A039363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F1930-39C4-409F-B3E4-D8A8EB358379}"/>
              </a:ext>
            </a:extLst>
          </p:cNvPr>
          <p:cNvGraphicFramePr/>
          <p:nvPr/>
        </p:nvGraphicFramePr>
        <p:xfrm>
          <a:off xmlns:a="http://schemas.openxmlformats.org/drawingml/2006/main" x="685800" y="1543050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33625"/>
                <a:gridCol w="3952875"/>
                <a:gridCol w="4533900"/>
              </a:tblGrid>
              <a:tr h="781050">
                <a:tc>
                  <a:txBody>
                    <a:bodyPr lIns="152400" tIns="95250" rIns="11430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連接項目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T w="9525">
                      <a:solidFill>
                        <a:srgbClr val="DBDFE8"/>
                      </a:solidFill>
                      <a:prstDash val="solid"/>
                    </a:lnT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283857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本專案設定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T w="9525">
                      <a:solidFill>
                        <a:srgbClr val="DBDFE8"/>
                      </a:solidFill>
                      <a:prstDash val="solid"/>
                    </a:lnT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283857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T w="9525">
                      <a:solidFill>
                        <a:srgbClr val="DBDFE8"/>
                      </a:solidFill>
                      <a:prstDash val="solid"/>
                    </a:lnT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283857"/>
                    </a:solidFill>
                  </a:tcPr>
                </a:tc>
              </a:tr>
              <a:tr h="781050"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PIR OUT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GPIO 26，Pin.IN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讀取高／低電位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PIR GND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與 ESP32 共地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提供共同電位基準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781050"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PIR VCC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依實際模組規格供電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型號未確認，不固定寫 5V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無源喇叭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GPIO 16，PWM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播放移入提示旋律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sp>
        <p:nvSpPr>
          <p:cNvPr id="5" name="explanation">
            <a:extLst xmlns:a="http://schemas.openxmlformats.org/drawingml/2006/main">
              <a:ext uri="{FF2B5EF4-FFF2-40B4-BE49-F238E27FC236}">
                <a16:creationId xmlns:a16="http://schemas.microsoft.com/office/drawing/2014/main" id="{8AC3D9AD-DD95-491D-8816-C98EC769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334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rPr>
              <a:t>腳位依交付的 config.py。實體模組供電與輸出邏輯需核對其規格。</a:t>
            </a:r>
          </a:p>
        </p:txBody>
      </p:sp>
    </p:spTree>
    <p:extLst>
      <p:ext uri="{BB962C8B-B14F-4D97-AF65-F5344CB8AC3E}">
        <p14:creationId xmlns:p14="http://schemas.microsoft.com/office/powerpoint/2010/main" val="20891534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488D69A-B19E-4264-A9A2-CAE5485C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相關程式與各自的工作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2801FEE7-F4C2-4192-B5B3-7A181AE8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AAA2D-82A1-474C-950B-DF1479F1A673}"/>
              </a:ext>
            </a:extLst>
          </p:cNvPr>
          <p:cNvGraphicFramePr/>
          <p:nvPr/>
        </p:nvGraphicFramePr>
        <p:xfrm>
          <a:off xmlns:a="http://schemas.openxmlformats.org/drawingml/2006/main" x="685800" y="1543050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714750"/>
                <a:gridCol w="7105650"/>
              </a:tblGrid>
              <a:tr h="576943">
                <a:tc>
                  <a:txBody>
                    <a:bodyPr lIns="152400" tIns="95250" rIns="11430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檔案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T w="9525">
                      <a:solidFill>
                        <a:srgbClr val="DBDFE8"/>
                      </a:solidFill>
                      <a:prstDash val="solid"/>
                    </a:lnT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283857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負責的工作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T w="9525">
                      <a:solidFill>
                        <a:srgbClr val="DBDFE8"/>
                      </a:solidFill>
                      <a:prstDash val="solid"/>
                    </a:lnT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283857"/>
                    </a:solidFill>
                  </a:tcPr>
                </a:tc>
              </a:tr>
              <a:tr h="576943"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app.py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建立感測器、Event、共享狀態與背景任務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6943"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hardware/sensors.py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PirSensor 讀取 GPIO 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576943"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tasks.py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確認移入／移出，另外執行音樂任務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6943"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hardware/motion.py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建立 motion_state 的 RAM 狀態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576943"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hardware/speaker.py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PWM 音符播放與停止發聲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6943"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web_server.py、index.html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 JSON 狀態，更新網站畫面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sp>
        <p:nvSpPr>
          <p:cNvPr id="5" name="explanation">
            <a:extLst xmlns:a="http://schemas.openxmlformats.org/drawingml/2006/main">
              <a:ext uri="{FF2B5EF4-FFF2-40B4-BE49-F238E27FC236}">
                <a16:creationId xmlns:a16="http://schemas.microsoft.com/office/drawing/2014/main" id="{C2CB7DF7-2A97-43D6-820D-265C3F2E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334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rPr>
              <a:t>ESP32 上應用程式採 runtime/ 內的 .mpy；報告以電腦端 .py 原始碼說明。</a:t>
            </a:r>
          </a:p>
        </p:txBody>
      </p:sp>
    </p:spTree>
    <p:extLst>
      <p:ext uri="{BB962C8B-B14F-4D97-AF65-F5344CB8AC3E}">
        <p14:creationId xmlns:p14="http://schemas.microsoft.com/office/powerpoint/2010/main" val="9545317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EA03F64-73BF-4DEA-9AA2-19BD7CF0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移入與移出的判定條件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1CC13A7C-3429-4825-AC11-E8DDACFD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787D90-32D0-4FB8-B039-28C6403F10F5}"/>
              </a:ext>
            </a:extLst>
          </p:cNvPr>
          <p:cNvGraphicFramePr/>
          <p:nvPr/>
        </p:nvGraphicFramePr>
        <p:xfrm>
          <a:off xmlns:a="http://schemas.openxmlformats.org/drawingml/2006/main" x="685800" y="1543050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52750"/>
                <a:gridCol w="3333750"/>
                <a:gridCol w="4533900"/>
              </a:tblGrid>
              <a:tr h="650875">
                <a:tc>
                  <a:txBody>
                    <a:bodyPr lIns="152400" tIns="95250" rIns="11430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觀察到的訊號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T w="9525">
                      <a:solidFill>
                        <a:srgbClr val="DBDFE8"/>
                      </a:solidFill>
                      <a:prstDash val="solid"/>
                    </a:lnT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283857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確認條件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T w="9525">
                      <a:solidFill>
                        <a:srgbClr val="DBDFE8"/>
                      </a:solidFill>
                      <a:prstDash val="solid"/>
                    </a:lnT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283857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程式處理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T w="9525">
                      <a:solidFill>
                        <a:srgbClr val="DBDFE8"/>
                      </a:solidFill>
                      <a:prstDash val="solid"/>
                    </a:lnT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283857"/>
                    </a:solidFill>
                  </a:tcPr>
                </a:tc>
              </a:tr>
              <a:tr h="650875"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高電位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持續至少 200 ms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記錄一次移入，觸發音樂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持續高或短暫低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尚未低電位滿 1500 ms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維持移入，不重複計次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650875"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移入後轉低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持續至少 1500 ms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記錄一次移出，允許下次移入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開機持續低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低電位穩定後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等待移入，不補記移出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650875"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讀取失敗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發生感測器例外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顯示未知，不當作移出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explanation">
            <a:extLst xmlns:a="http://schemas.openxmlformats.org/drawingml/2006/main">
              <a:ext uri="{FF2B5EF4-FFF2-40B4-BE49-F238E27FC236}">
                <a16:creationId xmlns:a16="http://schemas.microsoft.com/office/drawing/2014/main" id="{0904C67C-7C74-4FB2-BD32-924D57D5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334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rPr>
              <a:t>每輪確認後 await 100 ms。這是目前程式對訊號的命名，無法識別真正方向。</a:t>
            </a:r>
          </a:p>
        </p:txBody>
      </p:sp>
    </p:spTree>
    <p:extLst>
      <p:ext uri="{BB962C8B-B14F-4D97-AF65-F5344CB8AC3E}">
        <p14:creationId xmlns:p14="http://schemas.microsoft.com/office/powerpoint/2010/main" val="18750452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26C27C8-E131-4B4C-9896-03201B1A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一次完整的訊號時序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0BA69DCE-E743-4125-A5B1-047BE4CE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FEE60-E010-4869-B92C-F1418C18B4A1}"/>
              </a:ext>
            </a:extLst>
          </p:cNvPr>
          <p:cNvGraphicFramePr/>
          <p:nvPr/>
        </p:nvGraphicFramePr>
        <p:xfrm>
          <a:off xmlns:a="http://schemas.openxmlformats.org/drawingml/2006/main" x="685800" y="1543050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43125"/>
                <a:gridCol w="3381375"/>
                <a:gridCol w="5295900"/>
              </a:tblGrid>
              <a:tr h="650875">
                <a:tc>
                  <a:txBody>
                    <a:bodyPr lIns="152400" tIns="95250" rIns="11430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示意時間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T w="9525">
                      <a:solidFill>
                        <a:srgbClr val="DBDFE8"/>
                      </a:solidFill>
                      <a:prstDash val="solid"/>
                    </a:lnT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283857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GPIO 訊號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T w="9525">
                      <a:solidFill>
                        <a:srgbClr val="DBDFE8"/>
                      </a:solidFill>
                      <a:prstDash val="solid"/>
                    </a:lnT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283857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系統確認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T w="9525">
                      <a:solidFill>
                        <a:srgbClr val="DBDFE8"/>
                      </a:solidFill>
                      <a:prstDash val="solid"/>
                    </a:lnT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283857"/>
                    </a:solidFill>
                  </a:tcPr>
                </a:tc>
              </a:tr>
              <a:tr h="650875"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 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低電位，已穩定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等待移入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1.0 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剛轉為高電位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開始確認高電位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650875"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1.2 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高電位滿 0.2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移入 1 次，通知播放音樂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3.0 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剛轉為低電位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開始確認低電位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650875"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4.5 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低電位滿 1.5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移出 1 次，準備下一輪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explanation">
            <a:extLst xmlns:a="http://schemas.openxmlformats.org/drawingml/2006/main">
              <a:ext uri="{FF2B5EF4-FFF2-40B4-BE49-F238E27FC236}">
                <a16:creationId xmlns:a16="http://schemas.microsoft.com/office/drawing/2014/main" id="{BDDCB7A3-C4D3-47A2-8AC6-E3DFD62C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334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rPr>
              <a:t>程式邏輯示例，並非實測數據。網站顯示還會加上輪詢與網路時間。</a:t>
            </a:r>
          </a:p>
        </p:txBody>
      </p:sp>
    </p:spTree>
    <p:extLst>
      <p:ext uri="{BB962C8B-B14F-4D97-AF65-F5344CB8AC3E}">
        <p14:creationId xmlns:p14="http://schemas.microsoft.com/office/powerpoint/2010/main" val="9884215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5C752BD-B325-4508-B130-5A995EF5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移入如何觸發音樂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1B4EAC41-FADA-40A5-9D41-AAD65647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93AD9-D444-417F-B753-95B07CE6C566}"/>
              </a:ext>
            </a:extLst>
          </p:cNvPr>
          <p:cNvGraphicFramePr/>
          <p:nvPr/>
        </p:nvGraphicFramePr>
        <p:xfrm>
          <a:off xmlns:a="http://schemas.openxmlformats.org/drawingml/2006/main" x="685800" y="1543050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714750"/>
                <a:gridCol w="7105650"/>
              </a:tblGrid>
              <a:tr h="781050">
                <a:tc>
                  <a:txBody>
                    <a:bodyPr lIns="152400" tIns="95250" rIns="11430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階段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T w="9525">
                      <a:solidFill>
                        <a:srgbClr val="DBDFE8"/>
                      </a:solidFill>
                      <a:prstDash val="solid"/>
                    </a:lnT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283857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程式行為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T w="9525">
                      <a:solidFill>
                        <a:srgbClr val="DBDFE8"/>
                      </a:solidFill>
                      <a:prstDash val="solid"/>
                    </a:lnT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283857"/>
                    </a:solidFill>
                  </a:tcPr>
                </a:tc>
              </a:tr>
              <a:tr h="781050"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PIR 確認移入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motion_event.set() 通知另一個任務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音樂任務收到通知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await motion_event.wait() 返回並清除事件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781050"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喇叭播放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GPIO 16 的 PWM 依序切換音符頻率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音樂結束或取消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silence() 將輸出 duty 設為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sp>
        <p:nvSpPr>
          <p:cNvPr id="5" name="explanation">
            <a:extLst xmlns:a="http://schemas.openxmlformats.org/drawingml/2006/main">
              <a:ext uri="{FF2B5EF4-FFF2-40B4-BE49-F238E27FC236}">
                <a16:creationId xmlns:a16="http://schemas.microsoft.com/office/drawing/2014/main" id="{7D6F8F1E-0E4C-4DB6-A1FC-93F574EF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334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rPr>
              <a:t>旋律：C4 0.3 秒、E4 0.3 秒、D4 0.3 秒、G3 0.3 秒、休止 0.2 秒。</a:t>
            </a:r>
          </a:p>
        </p:txBody>
      </p:sp>
    </p:spTree>
    <p:extLst>
      <p:ext uri="{BB962C8B-B14F-4D97-AF65-F5344CB8AC3E}">
        <p14:creationId xmlns:p14="http://schemas.microsoft.com/office/powerpoint/2010/main" val="7492725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70ADFFF-85D4-4156-BF4B-756D348C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網站如何取得 PIR 狀態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FA88109F-54FC-4684-ABFE-1ABC2D75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73C2F-DEF7-415F-BE16-2E1012E2551B}"/>
              </a:ext>
            </a:extLst>
          </p:cNvPr>
          <p:cNvGraphicFramePr/>
          <p:nvPr/>
        </p:nvGraphicFramePr>
        <p:xfrm>
          <a:off xmlns:a="http://schemas.openxmlformats.org/drawingml/2006/main" x="685800" y="1543050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714750"/>
                <a:gridCol w="7105650"/>
              </a:tblGrid>
              <a:tr h="650875">
                <a:tc>
                  <a:txBody>
                    <a:bodyPr lIns="152400" tIns="95250" rIns="11430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位置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T w="9525">
                      <a:solidFill>
                        <a:srgbClr val="DBDFE8"/>
                      </a:solidFill>
                      <a:prstDash val="solid"/>
                    </a:lnT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283857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目前行為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T w="9525">
                      <a:solidFill>
                        <a:srgbClr val="DBDFE8"/>
                      </a:solidFill>
                      <a:prstDash val="solid"/>
                    </a:lnT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283857"/>
                    </a:solidFill>
                  </a:tcPr>
                </a:tc>
              </a:tr>
              <a:tr h="650875"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ESP32 RAM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motion_state 保存狀態、兩種次數與最近五筆事件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socket HTTP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GET /api/motion/status 回傳 JSON 快照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650875"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瀏覽器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完成一次請求後等 1000 ms，再發下一次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畫面更新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顯示移入／移出、事件時間與音樂狀態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650875"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連線異常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三秒逾時後顯示未知，保留最後紀錄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explanation">
            <a:extLst xmlns:a="http://schemas.openxmlformats.org/drawingml/2006/main">
              <a:ext uri="{FF2B5EF4-FFF2-40B4-BE49-F238E27FC236}">
                <a16:creationId xmlns:a16="http://schemas.microsoft.com/office/drawing/2014/main" id="{B14D3D19-0229-470C-ACB0-63BEC58F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334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rPr>
              <a:t>網站使用 presence 判定狀態。舊 detected 欄位的五秒保留，不再延遲移出顯示。</a:t>
            </a:r>
          </a:p>
        </p:txBody>
      </p:sp>
    </p:spTree>
    <p:extLst>
      <p:ext uri="{BB962C8B-B14F-4D97-AF65-F5344CB8AC3E}">
        <p14:creationId xmlns:p14="http://schemas.microsoft.com/office/powerpoint/2010/main" val="6032321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5F26C5B-F50E-4B90-B97A-851B4DB0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背景任務與共同資源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E554DB0B-9906-4C35-B566-BAB47CBB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CF4D7079-A654-4BC1-9884-0F60DE01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95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rPr>
              <a:t>PIR 任務</a:t>
            </a:r>
          </a:p>
        </p:txBody>
      </p:sp>
      <p:sp>
        <p:nvSpPr>
          <p:cNvPr id="5" name="description-0">
            <a:extLst xmlns:a="http://schemas.openxmlformats.org/drawingml/2006/main">
              <a:ext uri="{FF2B5EF4-FFF2-40B4-BE49-F238E27FC236}">
                <a16:creationId xmlns:a16="http://schemas.microsoft.com/office/drawing/2014/main" id="{BAE29A42-4D3F-4E9D-AFA8-ED2EE948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6210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讀取 GPIO、確認訊號、寫入狀態</a:t>
            </a:r>
          </a:p>
        </p:txBody>
      </p:sp>
      <p:sp>
        <p:nvSpPr>
          <p:cNvPr id="6" name="label-1">
            <a:extLst xmlns:a="http://schemas.openxmlformats.org/drawingml/2006/main">
              <a:ext uri="{FF2B5EF4-FFF2-40B4-BE49-F238E27FC236}">
                <a16:creationId xmlns:a16="http://schemas.microsoft.com/office/drawing/2014/main" id="{BEDBE518-CC83-4CAA-AD67-BB63B9E3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95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rPr>
              <a:t>音樂任務</a:t>
            </a:r>
          </a:p>
        </p:txBody>
      </p:sp>
      <p:sp>
        <p:nvSpPr>
          <p:cNvPr id="7" name="description-1">
            <a:extLst xmlns:a="http://schemas.openxmlformats.org/drawingml/2006/main">
              <a:ext uri="{FF2B5EF4-FFF2-40B4-BE49-F238E27FC236}">
                <a16:creationId xmlns:a16="http://schemas.microsoft.com/office/drawing/2014/main" id="{2D31C833-A777-4151-8044-33391661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2890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等待 Event、播放音符、讓出執行時間</a:t>
            </a:r>
          </a:p>
        </p:txBody>
      </p:sp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83D43E98-1690-40DC-A2D5-86D5D7F7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95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rPr>
              <a:t>HTTP 任務</a:t>
            </a:r>
          </a:p>
        </p:txBody>
      </p:sp>
      <p:sp>
        <p:nvSpPr>
          <p:cNvPr id="9" name="description-2">
            <a:extLst xmlns:a="http://schemas.openxmlformats.org/drawingml/2006/main">
              <a:ext uri="{FF2B5EF4-FFF2-40B4-BE49-F238E27FC236}">
                <a16:creationId xmlns:a16="http://schemas.microsoft.com/office/drawing/2014/main" id="{AF9B8931-A2E1-419A-8FA5-49A564EE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9570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接收網站請求，回傳 RAM 快照</a:t>
            </a:r>
          </a:p>
        </p:txBody>
      </p:sp>
      <p:sp>
        <p:nvSpPr>
          <p:cNvPr id="10" name="label-3">
            <a:extLst xmlns:a="http://schemas.openxmlformats.org/drawingml/2006/main">
              <a:ext uri="{FF2B5EF4-FFF2-40B4-BE49-F238E27FC236}">
                <a16:creationId xmlns:a16="http://schemas.microsoft.com/office/drawing/2014/main" id="{E69B67B7-CBC5-41A1-8948-B320A205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95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rPr>
              <a:t>其他任務</a:t>
            </a:r>
          </a:p>
        </p:txBody>
      </p:sp>
      <p:sp>
        <p:nvSpPr>
          <p:cNvPr id="11" name="description-3">
            <a:extLst xmlns:a="http://schemas.openxmlformats.org/drawingml/2006/main">
              <a:ext uri="{FF2B5EF4-FFF2-40B4-BE49-F238E27FC236}">
                <a16:creationId xmlns:a16="http://schemas.microsoft.com/office/drawing/2014/main" id="{9D07141E-5DA9-4BE7-811C-E5406129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6250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同時進行溫濕度、光照、RFID 與 MQTT 工作</a:t>
            </a:r>
          </a:p>
        </p:txBody>
      </p:sp>
      <p:sp>
        <p:nvSpPr>
          <p:cNvPr id="12" name="explanation">
            <a:extLst xmlns:a="http://schemas.openxmlformats.org/drawingml/2006/main">
              <a:ext uri="{FF2B5EF4-FFF2-40B4-BE49-F238E27FC236}">
                <a16:creationId xmlns:a16="http://schemas.microsoft.com/office/drawing/2014/main" id="{929484E0-1A11-4A56-93D8-9F5FA9B8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334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rPr>
              <a:t>uasyncio 是協作式排程。await 讓其他任務執行，100 ms 輪詢不代表硬即時保證。</a:t>
            </a:r>
          </a:p>
        </p:txBody>
      </p:sp>
    </p:spTree>
    <p:extLst>
      <p:ext uri="{BB962C8B-B14F-4D97-AF65-F5344CB8AC3E}">
        <p14:creationId xmlns:p14="http://schemas.microsoft.com/office/powerpoint/2010/main" val="19467586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6F55E40-CF92-4DAD-9A22-AC26FA44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PIR 與其他功能的關係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F0C0527-D035-4DF8-B9A9-6DB4ED06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D4E08-E636-4401-8983-AD57981A1124}"/>
              </a:ext>
            </a:extLst>
          </p:cNvPr>
          <p:cNvGraphicFramePr/>
          <p:nvPr/>
        </p:nvGraphicFramePr>
        <p:xfrm>
          <a:off xmlns:a="http://schemas.openxmlformats.org/drawingml/2006/main" x="685800" y="1543050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714750"/>
                <a:gridCol w="7105650"/>
              </a:tblGrid>
              <a:tr h="650875">
                <a:tc>
                  <a:txBody>
                    <a:bodyPr lIns="152400" tIns="95250" rIns="11430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功能／資源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T w="9525">
                      <a:solidFill>
                        <a:srgbClr val="DBDFE8"/>
                      </a:solidFill>
                      <a:prstDash val="solid"/>
                    </a:lnT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283857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目前與 PIR 的關係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T w="9525">
                      <a:solidFill>
                        <a:srgbClr val="DBDFE8"/>
                      </a:solidFill>
                      <a:prstDash val="solid"/>
                    </a:lnT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283857"/>
                    </a:solidFill>
                  </a:tcPr>
                </a:tc>
              </a:tr>
              <a:tr h="650875"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音樂與網站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直接連動，移入通知音樂並更新狀態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Wi-Fi、socket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網站存取依賴網路，網路中斷不等同感測失敗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650875"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RTC、NTP 時間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提供事件時間，時間未同步可能影響時間標籤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MQTT 與 OLED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目前發布／顯示溫濕度，沒有自動發布或顯示 PIR 事件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650875"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RGB LED 與 RFID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各自處理燈光與刷卡，PIR 沒有直接觸發綠燈或紅燈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explanation">
            <a:extLst xmlns:a="http://schemas.openxmlformats.org/drawingml/2006/main">
              <a:ext uri="{FF2B5EF4-FFF2-40B4-BE49-F238E27FC236}">
                <a16:creationId xmlns:a16="http://schemas.microsoft.com/office/drawing/2014/main" id="{C56F399F-9D0A-48E3-9367-3E840148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334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rPr>
              <a:t>綠燈三次由網站按鈕觸發，紅燈由低光條件觸發。它們與 PIR 共用同一台 ESP32。</a:t>
            </a:r>
          </a:p>
        </p:txBody>
      </p:sp>
    </p:spTree>
    <p:extLst>
      <p:ext uri="{BB962C8B-B14F-4D97-AF65-F5344CB8AC3E}">
        <p14:creationId xmlns:p14="http://schemas.microsoft.com/office/powerpoint/2010/main" val="6514093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E49E68D-97D2-43CB-B8C7-415A86BF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判讀限制與可延伸的功能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91C1A189-4DC0-4009-8DCB-ED9F9A3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8F0AE-3311-4DB1-9713-8360FB4A662F}"/>
              </a:ext>
            </a:extLst>
          </p:cNvPr>
          <p:cNvGraphicFramePr/>
          <p:nvPr/>
        </p:nvGraphicFramePr>
        <p:xfrm>
          <a:off xmlns:a="http://schemas.openxmlformats.org/drawingml/2006/main" x="685800" y="1543050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714750"/>
                <a:gridCol w="7105650"/>
              </a:tblGrid>
              <a:tr h="781050">
                <a:tc>
                  <a:txBody>
                    <a:bodyPr lIns="152400" tIns="95250" rIns="11430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目前限制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T w="9525">
                      <a:solidFill>
                        <a:srgbClr val="DBDFE8"/>
                      </a:solidFill>
                      <a:prstDash val="solid"/>
                    </a:lnT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283857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對報告或展示的影響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T w="9525">
                      <a:solidFill>
                        <a:srgbClr val="DBDFE8"/>
                      </a:solidFill>
                      <a:prstDash val="solid"/>
                    </a:lnT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283857"/>
                    </a:solidFill>
                  </a:tcPr>
                </a:tc>
              </a:tr>
              <a:tr h="781050"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訊號只表示活動變化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移出不等於人真的離開，不能據此計算現場人數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模組規格與延遲未確認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距離、角度、暖機時間應依實際型號說明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  <a:tr h="781050"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程式沒有獨立暖機等待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開機不穩定的高電位仍可能被記成移入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紀錄只存在 RAM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BDFE8"/>
                      </a:solidFill>
                      <a:prstDash val="solid"/>
                    </a:lnL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950" b="0">
                          <a:solidFill>
                            <a:srgbClr val="1724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ESP32 重啟後清空，沒有永久保存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BDFE8"/>
                      </a:solidFill>
                      <a:prstDash val="solid"/>
                    </a:lnR>
                    <a:lnB w="9525">
                      <a:solidFill>
                        <a:srgbClr val="DBDFE8"/>
                      </a:solidFill>
                      <a:prstDash val="solid"/>
                    </a:lnB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sp>
        <p:nvSpPr>
          <p:cNvPr id="5" name="explanation">
            <a:extLst xmlns:a="http://schemas.openxmlformats.org/drawingml/2006/main">
              <a:ext uri="{FF2B5EF4-FFF2-40B4-BE49-F238E27FC236}">
                <a16:creationId xmlns:a16="http://schemas.microsoft.com/office/drawing/2014/main" id="{D97FD975-02EE-45FB-992F-F3B9BF19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334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rPr>
              <a:t>延伸提案：新增方向偵測點、MQTT 事件、資料庫或 OLED 提示。目前都尚未實作。</a:t>
            </a:r>
          </a:p>
        </p:txBody>
      </p:sp>
    </p:spTree>
    <p:extLst>
      <p:ext uri="{BB962C8B-B14F-4D97-AF65-F5344CB8AC3E}">
        <p14:creationId xmlns:p14="http://schemas.microsoft.com/office/powerpoint/2010/main" val="10348953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FFF373A-2340-4777-9D9B-AEC6FBA2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現場示範流程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068BD06F-8ADB-4792-902A-6ED4658C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5F25AAE5-D7C6-46D5-AB56-C52D09A7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95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rPr>
              <a:t>1　準備</a:t>
            </a:r>
          </a:p>
        </p:txBody>
      </p:sp>
      <p:sp>
        <p:nvSpPr>
          <p:cNvPr id="5" name="description-0">
            <a:extLst xmlns:a="http://schemas.openxmlformats.org/drawingml/2006/main">
              <a:ext uri="{FF2B5EF4-FFF2-40B4-BE49-F238E27FC236}">
                <a16:creationId xmlns:a16="http://schemas.microsoft.com/office/drawing/2014/main" id="{38558311-D66C-481B-B122-DC5B81F3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6210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開啟網站，等 PIR 穩定，確認喇叭與網路可用</a:t>
            </a:r>
          </a:p>
        </p:txBody>
      </p:sp>
      <p:sp>
        <p:nvSpPr>
          <p:cNvPr id="6" name="label-1">
            <a:extLst xmlns:a="http://schemas.openxmlformats.org/drawingml/2006/main">
              <a:ext uri="{FF2B5EF4-FFF2-40B4-BE49-F238E27FC236}">
                <a16:creationId xmlns:a16="http://schemas.microsoft.com/office/drawing/2014/main" id="{776D5DD2-DC60-40D4-9A57-B8447034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95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rPr>
              <a:t>2　觸發</a:t>
            </a:r>
          </a:p>
        </p:txBody>
      </p:sp>
      <p:sp>
        <p:nvSpPr>
          <p:cNvPr id="7" name="description-1">
            <a:extLst xmlns:a="http://schemas.openxmlformats.org/drawingml/2006/main">
              <a:ext uri="{FF2B5EF4-FFF2-40B4-BE49-F238E27FC236}">
                <a16:creationId xmlns:a16="http://schemas.microsoft.com/office/drawing/2014/main" id="{089C6541-BEFE-4421-A478-D49F27F0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1935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橫向移動穿過偵測區，觀察移入與提示音</a:t>
            </a:r>
          </a:p>
        </p:txBody>
      </p:sp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D2620389-1AA9-4560-95CD-AAB98E3C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95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rPr>
              <a:t>3　等待</a:t>
            </a:r>
          </a:p>
        </p:txBody>
      </p:sp>
      <p:sp>
        <p:nvSpPr>
          <p:cNvPr id="9" name="description-2">
            <a:extLst xmlns:a="http://schemas.openxmlformats.org/drawingml/2006/main">
              <a:ext uri="{FF2B5EF4-FFF2-40B4-BE49-F238E27FC236}">
                <a16:creationId xmlns:a16="http://schemas.microsoft.com/office/drawing/2014/main" id="{F8879BC0-6287-4288-955D-DC952F9B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7660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等模組訊號轉低，再等程式確認 1.5 秒</a:t>
            </a:r>
          </a:p>
        </p:txBody>
      </p:sp>
      <p:sp>
        <p:nvSpPr>
          <p:cNvPr id="10" name="label-3">
            <a:extLst xmlns:a="http://schemas.openxmlformats.org/drawingml/2006/main">
              <a:ext uri="{FF2B5EF4-FFF2-40B4-BE49-F238E27FC236}">
                <a16:creationId xmlns:a16="http://schemas.microsoft.com/office/drawing/2014/main" id="{7B6D4ED8-5E2F-483B-B869-C7EBAC53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295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rPr>
              <a:t>4　檢查</a:t>
            </a:r>
          </a:p>
        </p:txBody>
      </p:sp>
      <p:sp>
        <p:nvSpPr>
          <p:cNvPr id="11" name="description-3">
            <a:extLst xmlns:a="http://schemas.openxmlformats.org/drawingml/2006/main">
              <a:ext uri="{FF2B5EF4-FFF2-40B4-BE49-F238E27FC236}">
                <a16:creationId xmlns:a16="http://schemas.microsoft.com/office/drawing/2014/main" id="{943724D2-200E-47E5-976C-B0432094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3385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確認移出、兩種計數與最近事件時間</a:t>
            </a:r>
          </a:p>
        </p:txBody>
      </p:sp>
      <p:sp>
        <p:nvSpPr>
          <p:cNvPr id="12" name="label-4">
            <a:extLst xmlns:a="http://schemas.openxmlformats.org/drawingml/2006/main">
              <a:ext uri="{FF2B5EF4-FFF2-40B4-BE49-F238E27FC236}">
                <a16:creationId xmlns:a16="http://schemas.microsoft.com/office/drawing/2014/main" id="{C62CBBC1-322A-411F-928C-0619AE1F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95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rPr>
              <a:t>5　重複</a:t>
            </a:r>
          </a:p>
        </p:txBody>
      </p:sp>
      <p:sp>
        <p:nvSpPr>
          <p:cNvPr id="13" name="description-4">
            <a:extLst xmlns:a="http://schemas.openxmlformats.org/drawingml/2006/main">
              <a:ext uri="{FF2B5EF4-FFF2-40B4-BE49-F238E27FC236}">
                <a16:creationId xmlns:a16="http://schemas.microsoft.com/office/drawing/2014/main" id="{8227B23B-7A92-4F83-B727-B29E24D0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9110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再做一輪，確認每組訊號只有一進一出</a:t>
            </a:r>
          </a:p>
        </p:txBody>
      </p:sp>
      <p:sp>
        <p:nvSpPr>
          <p:cNvPr id="1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61AE51FA-77FE-48C8-A0DB-0D144247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334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rPr>
              <a:t>若畫面延遲，先分別查看序列埠 PIR 訊息與網站連線狀態，不直接判定為感測器故障。</a:t>
            </a:r>
          </a:p>
        </p:txBody>
      </p:sp>
    </p:spTree>
    <p:extLst>
      <p:ext uri="{BB962C8B-B14F-4D97-AF65-F5344CB8AC3E}">
        <p14:creationId xmlns:p14="http://schemas.microsoft.com/office/powerpoint/2010/main" val="1807839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7103089-49D2-4BC8-836A-E61E6D56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常見提問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39C1D705-5491-41DA-A358-5B2C96D2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356102CD-8670-4E80-8AE2-7C9B4B2D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95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rPr>
              <a:t>為什麼移出比較慢？</a:t>
            </a:r>
          </a:p>
        </p:txBody>
      </p:sp>
      <p:sp>
        <p:nvSpPr>
          <p:cNvPr id="5" name="description-0">
            <a:extLst xmlns:a="http://schemas.openxmlformats.org/drawingml/2006/main">
              <a:ext uri="{FF2B5EF4-FFF2-40B4-BE49-F238E27FC236}">
                <a16:creationId xmlns:a16="http://schemas.microsoft.com/office/drawing/2014/main" id="{558EB56D-F950-4FDE-9EAC-FA0AA1D1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2400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模組自己的延遲，加上低電位 1.5 秒與網站輪詢</a:t>
            </a:r>
          </a:p>
        </p:txBody>
      </p:sp>
      <p:sp>
        <p:nvSpPr>
          <p:cNvPr id="6" name="label-1">
            <a:extLst xmlns:a="http://schemas.openxmlformats.org/drawingml/2006/main">
              <a:ext uri="{FF2B5EF4-FFF2-40B4-BE49-F238E27FC236}">
                <a16:creationId xmlns:a16="http://schemas.microsoft.com/office/drawing/2014/main" id="{1A2E2E4A-4951-4B98-B559-F4FDCA6D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295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rPr>
              <a:t>人還在卻顯示移出？</a:t>
            </a:r>
          </a:p>
        </p:txBody>
      </p:sp>
      <p:sp>
        <p:nvSpPr>
          <p:cNvPr id="7" name="description-1">
            <a:extLst xmlns:a="http://schemas.openxmlformats.org/drawingml/2006/main">
              <a:ext uri="{FF2B5EF4-FFF2-40B4-BE49-F238E27FC236}">
                <a16:creationId xmlns:a16="http://schemas.microsoft.com/office/drawing/2014/main" id="{95C149D1-2B3B-416A-9020-2C14A91F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9080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可能只是活動訊號結束，PIR 無法保證持續有人</a:t>
            </a:r>
          </a:p>
        </p:txBody>
      </p:sp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863A5ADB-8573-4882-B266-775F8044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295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rPr>
              <a:t>網站關掉後還會播放嗎？</a:t>
            </a:r>
          </a:p>
        </p:txBody>
      </p:sp>
      <p:sp>
        <p:nvSpPr>
          <p:cNvPr id="9" name="description-2">
            <a:extLst xmlns:a="http://schemas.openxmlformats.org/drawingml/2006/main">
              <a:ext uri="{FF2B5EF4-FFF2-40B4-BE49-F238E27FC236}">
                <a16:creationId xmlns:a16="http://schemas.microsoft.com/office/drawing/2014/main" id="{42B1DAAD-6E13-47EB-B7D4-E6657E19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5760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主程式正常運行時，PIR 與音樂任務仍在 ESP32 上執行</a:t>
            </a:r>
          </a:p>
        </p:txBody>
      </p:sp>
      <p:sp>
        <p:nvSpPr>
          <p:cNvPr id="10" name="label-3">
            <a:extLst xmlns:a="http://schemas.openxmlformats.org/drawingml/2006/main">
              <a:ext uri="{FF2B5EF4-FFF2-40B4-BE49-F238E27FC236}">
                <a16:creationId xmlns:a16="http://schemas.microsoft.com/office/drawing/2014/main" id="{2E14BC89-E7E7-4A86-B228-87D9EF2E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295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rPr>
              <a:t>能不能直接統計人數？</a:t>
            </a:r>
          </a:p>
        </p:txBody>
      </p:sp>
      <p:sp>
        <p:nvSpPr>
          <p:cNvPr id="11" name="description-3">
            <a:extLst xmlns:a="http://schemas.openxmlformats.org/drawingml/2006/main">
              <a:ext uri="{FF2B5EF4-FFF2-40B4-BE49-F238E27FC236}">
                <a16:creationId xmlns:a16="http://schemas.microsoft.com/office/drawing/2014/main" id="{56FD0B70-49A3-4424-BA86-F661B40C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2440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目前不能。需要額外偵測與方向判斷機制</a:t>
            </a:r>
          </a:p>
        </p:txBody>
      </p:sp>
      <p:sp>
        <p:nvSpPr>
          <p:cNvPr id="12" name="explanation">
            <a:extLst xmlns:a="http://schemas.openxmlformats.org/drawingml/2006/main">
              <a:ext uri="{FF2B5EF4-FFF2-40B4-BE49-F238E27FC236}">
                <a16:creationId xmlns:a16="http://schemas.microsoft.com/office/drawing/2014/main" id="{5F40558B-17A7-4A02-95F3-12E4F1DB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334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rPr>
              <a:t>若老師問驗證：已有桌面模擬測試，距離、實際聲音與現場穩定性須以板子展示確認。</a:t>
            </a:r>
          </a:p>
        </p:txBody>
      </p:sp>
    </p:spTree>
    <p:extLst>
      <p:ext uri="{BB962C8B-B14F-4D97-AF65-F5344CB8AC3E}">
        <p14:creationId xmlns:p14="http://schemas.microsoft.com/office/powerpoint/2010/main" val="16032355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EBFA8FF-AC93-42DC-B9F9-4136D8C0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PIR 功能的目前定位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B60AEBC3-B902-434D-B483-237BD79D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06557040-5271-4F57-AE1A-F4072247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95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rPr>
              <a:t>感測端</a:t>
            </a:r>
          </a:p>
        </p:txBody>
      </p:sp>
      <p:sp>
        <p:nvSpPr>
          <p:cNvPr id="5" name="description-0">
            <a:extLst xmlns:a="http://schemas.openxmlformats.org/drawingml/2006/main">
              <a:ext uri="{FF2B5EF4-FFF2-40B4-BE49-F238E27FC236}">
                <a16:creationId xmlns:a16="http://schemas.microsoft.com/office/drawing/2014/main" id="{27B4524B-5443-46FB-B279-90096172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6210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GPIO 26 取得活動訊號，程式確認移入／移出</a:t>
            </a:r>
          </a:p>
        </p:txBody>
      </p:sp>
      <p:sp>
        <p:nvSpPr>
          <p:cNvPr id="6" name="label-1">
            <a:extLst xmlns:a="http://schemas.openxmlformats.org/drawingml/2006/main">
              <a:ext uri="{FF2B5EF4-FFF2-40B4-BE49-F238E27FC236}">
                <a16:creationId xmlns:a16="http://schemas.microsoft.com/office/drawing/2014/main" id="{D633C810-5C79-4D10-A7CA-C5E98436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295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rPr>
              <a:t>回應端</a:t>
            </a:r>
          </a:p>
        </p:txBody>
      </p:sp>
      <p:sp>
        <p:nvSpPr>
          <p:cNvPr id="7" name="description-1">
            <a:extLst xmlns:a="http://schemas.openxmlformats.org/drawingml/2006/main">
              <a:ext uri="{FF2B5EF4-FFF2-40B4-BE49-F238E27FC236}">
                <a16:creationId xmlns:a16="http://schemas.microsoft.com/office/drawing/2014/main" id="{AFE9AF7A-F5D0-4940-BEEF-9822E5AB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28925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移入播放提示音，網站顯示狀態與最近事件</a:t>
            </a:r>
          </a:p>
        </p:txBody>
      </p:sp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486B4C7C-5B5C-47A8-AA0D-19FCE3D5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95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rPr>
              <a:t>系統端</a:t>
            </a:r>
          </a:p>
        </p:txBody>
      </p:sp>
      <p:sp>
        <p:nvSpPr>
          <p:cNvPr id="9" name="description-2">
            <a:extLst xmlns:a="http://schemas.openxmlformats.org/drawingml/2006/main">
              <a:ext uri="{FF2B5EF4-FFF2-40B4-BE49-F238E27FC236}">
                <a16:creationId xmlns:a16="http://schemas.microsoft.com/office/drawing/2014/main" id="{5F5D385D-4AB1-4EE8-A235-B658CF57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9575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用 Event 與 RAM 快照分工，與其他任務共享 ESP32</a:t>
            </a:r>
          </a:p>
        </p:txBody>
      </p:sp>
      <p:sp>
        <p:nvSpPr>
          <p:cNvPr id="10" name="explanation">
            <a:extLst xmlns:a="http://schemas.openxmlformats.org/drawingml/2006/main">
              <a:ext uri="{FF2B5EF4-FFF2-40B4-BE49-F238E27FC236}">
                <a16:creationId xmlns:a16="http://schemas.microsoft.com/office/drawing/2014/main" id="{A57D9306-304D-46DF-B921-D92EC6A6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334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rPr>
              <a:t>目前成果是活動偵測與展示。方向辨識、持續有人判定與永久紀錄，仍屬後續功能。</a:t>
            </a:r>
          </a:p>
        </p:txBody>
      </p:sp>
    </p:spTree>
    <p:extLst>
      <p:ext uri="{BB962C8B-B14F-4D97-AF65-F5344CB8AC3E}">
        <p14:creationId xmlns:p14="http://schemas.microsoft.com/office/powerpoint/2010/main" val="8949754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2C15E51-AE3E-43D0-A4AD-BB5E5D51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參考資料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053CBF9B-5916-4FD9-B5F2-0F25EC9B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768299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42D9739B-ADBF-4137-9122-4F2ABEFE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95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rPr>
              <a:t>感測原理</a:t>
            </a:r>
          </a:p>
        </p:txBody>
      </p:sp>
      <p:sp>
        <p:nvSpPr>
          <p:cNvPr id="5" name="description-0">
            <a:extLst xmlns:a="http://schemas.openxmlformats.org/drawingml/2006/main">
              <a:ext uri="{FF2B5EF4-FFF2-40B4-BE49-F238E27FC236}">
                <a16:creationId xmlns:a16="http://schemas.microsoft.com/office/drawing/2014/main" id="{6C972F6E-6AE8-4265-A3D4-D41BBB0B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6210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Adafruit：PIR Motion Sensor / How PIRs Work</a:t>
            </a:r>
          </a:p>
        </p:txBody>
      </p:sp>
      <p:sp>
        <p:nvSpPr>
          <p:cNvPr id="6" name="label-1">
            <a:extLst xmlns:a="http://schemas.openxmlformats.org/drawingml/2006/main">
              <a:ext uri="{FF2B5EF4-FFF2-40B4-BE49-F238E27FC236}">
                <a16:creationId xmlns:a16="http://schemas.microsoft.com/office/drawing/2014/main" id="{247E1746-5D1E-4E6A-870F-E50FD881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95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rPr>
              <a:t>感測限制</a:t>
            </a:r>
          </a:p>
        </p:txBody>
      </p:sp>
      <p:sp>
        <p:nvSpPr>
          <p:cNvPr id="7" name="description-1">
            <a:extLst xmlns:a="http://schemas.openxmlformats.org/drawingml/2006/main">
              <a:ext uri="{FF2B5EF4-FFF2-40B4-BE49-F238E27FC236}">
                <a16:creationId xmlns:a16="http://schemas.microsoft.com/office/drawing/2014/main" id="{2AB2253A-BD10-4A4D-944F-2FD6AA7B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2890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Panasonic Industry：Passive Infrared Motion Sensors FAQ</a:t>
            </a:r>
          </a:p>
        </p:txBody>
      </p:sp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D049AE38-A41B-4625-98D0-4324D43F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95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rPr>
              <a:t>MicroPython</a:t>
            </a:r>
          </a:p>
        </p:txBody>
      </p:sp>
      <p:sp>
        <p:nvSpPr>
          <p:cNvPr id="9" name="description-2">
            <a:extLst xmlns:a="http://schemas.openxmlformats.org/drawingml/2006/main">
              <a:ext uri="{FF2B5EF4-FFF2-40B4-BE49-F238E27FC236}">
                <a16:creationId xmlns:a16="http://schemas.microsoft.com/office/drawing/2014/main" id="{F6D88A29-8602-44FC-9106-0576F808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9570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v1.29.0 Pin、PWM、asyncio 官方文件</a:t>
            </a:r>
          </a:p>
        </p:txBody>
      </p:sp>
      <p:sp>
        <p:nvSpPr>
          <p:cNvPr id="10" name="label-3">
            <a:extLst xmlns:a="http://schemas.openxmlformats.org/drawingml/2006/main">
              <a:ext uri="{FF2B5EF4-FFF2-40B4-BE49-F238E27FC236}">
                <a16:creationId xmlns:a16="http://schemas.microsoft.com/office/drawing/2014/main" id="{F9D438B6-993C-431E-AB2D-3B489B08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95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5B55B2"/>
                </a:solidFill>
                <a:latin typeface="Microsoft JhengHei"/>
                <a:ea typeface="Microsoft JhengHei"/>
                <a:cs typeface="Microsoft JhengHei"/>
              </a:rPr>
              <a:t>專案實作</a:t>
            </a:r>
          </a:p>
        </p:txBody>
      </p:sp>
      <p:sp>
        <p:nvSpPr>
          <p:cNvPr id="11" name="description-3">
            <a:extLst xmlns:a="http://schemas.openxmlformats.org/drawingml/2006/main">
              <a:ext uri="{FF2B5EF4-FFF2-40B4-BE49-F238E27FC236}">
                <a16:creationId xmlns:a16="http://schemas.microsoft.com/office/drawing/2014/main" id="{F48D5CED-F609-46C3-B32B-44149613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6250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43D"/>
                </a:solidFill>
                <a:latin typeface="Microsoft JhengHei"/>
                <a:ea typeface="Microsoft JhengHei"/>
                <a:cs typeface="Microsoft JhengHei"/>
              </a:rPr>
              <a:t>交付版 v5 原始碼與 2026-10-20 驗證紀錄</a:t>
            </a:r>
          </a:p>
        </p:txBody>
      </p:sp>
      <p:sp>
        <p:nvSpPr>
          <p:cNvPr id="12" name="explanation">
            <a:extLst xmlns:a="http://schemas.openxmlformats.org/drawingml/2006/main">
              <a:ext uri="{FF2B5EF4-FFF2-40B4-BE49-F238E27FC236}">
                <a16:creationId xmlns:a16="http://schemas.microsoft.com/office/drawing/2014/main" id="{1E3CDAD1-5B69-4BA2-9FC7-6982388F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334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B5870"/>
                </a:solidFill>
                <a:latin typeface="Microsoft JhengHei"/>
                <a:ea typeface="Microsoft JhengHei"/>
                <a:cs typeface="Microsoft JhengHei"/>
              </a:rPr>
              <a:t>原理資料與專案程式分別查核。完整網址及相關檔案列於逐頁備忘稿。</a:t>
            </a:r>
          </a:p>
        </p:txBody>
      </p:sp>
    </p:spTree>
    <p:extLst>
      <p:ext uri="{BB962C8B-B14F-4D97-AF65-F5344CB8AC3E}">
        <p14:creationId xmlns:p14="http://schemas.microsoft.com/office/powerpoint/2010/main" val="16431142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JhengHei"/>
        <a:ea typeface=""/>
        <a:cs typeface=""/>
      </a:majorFont>
      <a:minorFont>
        <a:latin typeface="Microsoft Jheng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2026-10-26T15:32:16.7250000Z</dcterms:created>
  <dcterms:modified xsi:type="dcterms:W3CDTF">2026-10-26T15:32:16.7250000Z</dcterms:modified>
</coreProperties>
</file>